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4205" r:id="rId1"/>
  </p:sldMasterIdLst>
  <p:sldIdLst>
    <p:sldId id="256" r:id="rId2"/>
    <p:sldId id="257" r:id="rId3"/>
    <p:sldId id="258" r:id="rId4"/>
    <p:sldId id="259" r:id="rId5"/>
    <p:sldId id="260" r:id="rId6"/>
    <p:sldId id="261" r:id="rId7"/>
    <p:sldId id="262" r:id="rId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82" d="100"/>
          <a:sy n="82" d="100"/>
        </p:scale>
        <p:origin x="720"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5586B75A-687E-405C-8A0B-8D00578BA2C3}" type="datetimeFigureOut">
              <a:rPr lang="en-US" smtClean="0"/>
              <a:pPr/>
              <a:t>5/20/2024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290150636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86B75A-687E-405C-8A0B-8D00578BA2C3}" type="datetimeFigureOut">
              <a:rPr lang="en-US" smtClean="0"/>
              <a:pPr/>
              <a:t>5/20/2024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192700899"/>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586B75A-687E-405C-8A0B-8D00578BA2C3}" type="datetimeFigureOut">
              <a:rPr lang="en-US" smtClean="0"/>
              <a:pPr/>
              <a:t>5/20/2024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407530458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586B75A-687E-405C-8A0B-8D00578BA2C3}" type="datetimeFigureOut">
              <a:rPr lang="en-US" smtClean="0"/>
              <a:pPr/>
              <a:t>5/20/2024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2694120004"/>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586B75A-687E-405C-8A0B-8D00578BA2C3}" type="datetimeFigureOut">
              <a:rPr lang="en-US" smtClean="0"/>
              <a:pPr/>
              <a:t>5/20/2024</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2112035390"/>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586B75A-687E-405C-8A0B-8D00578BA2C3}" type="datetimeFigureOut">
              <a:rPr lang="en-US" smtClean="0"/>
              <a:pPr/>
              <a:t>5/20/2024</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256116866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586B75A-687E-405C-8A0B-8D00578BA2C3}" type="datetimeFigureOut">
              <a:rPr lang="en-US" smtClean="0"/>
              <a:pPr/>
              <a:t>5/20/2024</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391475298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586B75A-687E-405C-8A0B-8D00578BA2C3}" type="datetimeFigureOut">
              <a:rPr lang="en-US" smtClean="0"/>
              <a:pPr/>
              <a:t>5/20/2024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3680806233"/>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586B75A-687E-405C-8A0B-8D00578BA2C3}" type="datetimeFigureOut">
              <a:rPr lang="en-US" smtClean="0"/>
              <a:pPr/>
              <a:t>5/20/2024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333190714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586B75A-687E-405C-8A0B-8D00578BA2C3}" type="datetimeFigureOut">
              <a:rPr lang="en-US" smtClean="0"/>
              <a:pPr/>
              <a:t>5/20/2024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383102675"/>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586B75A-687E-405C-8A0B-8D00578BA2C3}" type="datetimeFigureOut">
              <a:rPr lang="en-US" smtClean="0"/>
              <a:pPr/>
              <a:t>5/20/2024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smtClean="0"/>
              <a:pPr/>
              <a:t>‹#›</a:t>
            </a:fld>
            <a:endParaRPr lang="en-US" dirty="0"/>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2682426431"/>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586B75A-687E-405C-8A0B-8D00578BA2C3}" type="datetimeFigureOut">
              <a:rPr lang="en-US" smtClean="0"/>
              <a:pPr/>
              <a:t>5/20/2024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2902905829"/>
      </p:ext>
    </p:extLst>
  </p:cSld>
  <p:clrMapOvr>
    <a:masterClrMapping/>
  </p:clrMapOvr>
  <p:hf sldNum="0"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586B75A-687E-405C-8A0B-8D00578BA2C3}" type="datetimeFigureOut">
              <a:rPr lang="en-US" smtClean="0"/>
              <a:pPr/>
              <a:t>5/20/2024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396113065"/>
      </p:ext>
    </p:extLst>
  </p:cSld>
  <p:clrMapOvr>
    <a:masterClrMapping/>
  </p:clrMapOvr>
  <p:hf sldNum="0"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586B75A-687E-405C-8A0B-8D00578BA2C3}" type="datetimeFigureOut">
              <a:rPr lang="en-US" smtClean="0"/>
              <a:pPr/>
              <a:t>5/20/2024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987329009"/>
      </p:ext>
    </p:extLst>
  </p:cSld>
  <p:clrMapOvr>
    <a:masterClrMapping/>
  </p:clrMapOvr>
  <p:hf sldNum="0"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86B75A-687E-405C-8A0B-8D00578BA2C3}" type="datetimeFigureOut">
              <a:rPr lang="en-US" smtClean="0"/>
              <a:pPr/>
              <a:t>5/20/2024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3346341640"/>
      </p:ext>
    </p:extLst>
  </p:cSld>
  <p:clrMapOvr>
    <a:masterClrMapping/>
  </p:clrMapOvr>
  <p:hf sldNum="0"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86B75A-687E-405C-8A0B-8D00578BA2C3}" type="datetimeFigureOut">
              <a:rPr lang="en-US" smtClean="0"/>
              <a:pPr/>
              <a:t>5/20/2024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3711855867"/>
      </p:ext>
    </p:extLst>
  </p:cSld>
  <p:clrMapOvr>
    <a:masterClrMapping/>
  </p:clrMapOvr>
  <p:hf sldNum="0" hdr="0" ft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5586B75A-687E-405C-8A0B-8D00578BA2C3}" type="datetimeFigureOut">
              <a:rPr lang="en-US" smtClean="0"/>
              <a:pPr/>
              <a:t>5/20/2024</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1075071874"/>
      </p:ext>
    </p:extLst>
  </p:cSld>
  <p:clrMap bg1="lt1" tx1="dk1" bg2="lt2" tx2="dk2" accent1="accent1" accent2="accent2" accent3="accent3" accent4="accent4" accent5="accent5" accent6="accent6" hlink="hlink" folHlink="folHlink"/>
  <p:sldLayoutIdLst>
    <p:sldLayoutId id="2147484206" r:id="rId1"/>
    <p:sldLayoutId id="2147484207" r:id="rId2"/>
    <p:sldLayoutId id="2147484208" r:id="rId3"/>
    <p:sldLayoutId id="2147484209" r:id="rId4"/>
    <p:sldLayoutId id="2147484210" r:id="rId5"/>
    <p:sldLayoutId id="2147484211" r:id="rId6"/>
    <p:sldLayoutId id="2147484212" r:id="rId7"/>
    <p:sldLayoutId id="2147484213" r:id="rId8"/>
    <p:sldLayoutId id="2147484214" r:id="rId9"/>
    <p:sldLayoutId id="2147484215" r:id="rId10"/>
    <p:sldLayoutId id="2147484216" r:id="rId11"/>
    <p:sldLayoutId id="2147484217" r:id="rId12"/>
    <p:sldLayoutId id="2147484218" r:id="rId13"/>
    <p:sldLayoutId id="2147484219" r:id="rId14"/>
    <p:sldLayoutId id="2147484220" r:id="rId15"/>
    <p:sldLayoutId id="2147484221" r:id="rId16"/>
  </p:sldLayoutIdLst>
  <p:hf sldNum="0"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C6DCDB-CD94-E012-3FB0-5382A844CF38}"/>
              </a:ext>
            </a:extLst>
          </p:cNvPr>
          <p:cNvSpPr>
            <a:spLocks noGrp="1"/>
          </p:cNvSpPr>
          <p:nvPr>
            <p:ph type="ctrTitle"/>
          </p:nvPr>
        </p:nvSpPr>
        <p:spPr>
          <a:xfrm>
            <a:off x="1572876" y="0"/>
            <a:ext cx="7315200" cy="604997"/>
          </a:xfrm>
        </p:spPr>
        <p:txBody>
          <a:bodyPr>
            <a:normAutofit fontScale="90000"/>
          </a:bodyPr>
          <a:lstStyle/>
          <a:p>
            <a:pPr algn="ctr"/>
            <a:r>
              <a:rPr lang="en-US" sz="3600" b="1" dirty="0">
                <a:solidFill>
                  <a:schemeClr val="tx2">
                    <a:lumMod val="50000"/>
                  </a:schemeClr>
                </a:solidFill>
                <a:latin typeface="Arial" panose="020B0604020202020204" pitchFamily="34" charset="0"/>
                <a:ea typeface="Cambria" panose="02040503050406030204" pitchFamily="18" charset="0"/>
                <a:cs typeface="Arial" panose="020B0604020202020204" pitchFamily="34" charset="0"/>
              </a:rPr>
              <a:t>COURSE CONTENT</a:t>
            </a:r>
            <a:endParaRPr lang="en-IN" sz="3600" b="1" dirty="0">
              <a:solidFill>
                <a:schemeClr val="tx2">
                  <a:lumMod val="50000"/>
                </a:schemeClr>
              </a:solidFill>
              <a:latin typeface="Arial" panose="020B0604020202020204" pitchFamily="34" charset="0"/>
              <a:ea typeface="Cambria" panose="02040503050406030204" pitchFamily="18" charset="0"/>
              <a:cs typeface="Arial" panose="020B0604020202020204" pitchFamily="34" charset="0"/>
            </a:endParaRPr>
          </a:p>
        </p:txBody>
      </p:sp>
      <p:sp>
        <p:nvSpPr>
          <p:cNvPr id="5" name="TextBox 4">
            <a:extLst>
              <a:ext uri="{FF2B5EF4-FFF2-40B4-BE49-F238E27FC236}">
                <a16:creationId xmlns:a16="http://schemas.microsoft.com/office/drawing/2014/main" id="{4CF0CAD8-362A-919E-6256-4F8469010B09}"/>
              </a:ext>
            </a:extLst>
          </p:cNvPr>
          <p:cNvSpPr txBox="1"/>
          <p:nvPr/>
        </p:nvSpPr>
        <p:spPr>
          <a:xfrm>
            <a:off x="795186" y="1084237"/>
            <a:ext cx="3079102" cy="4001095"/>
          </a:xfrm>
          <a:prstGeom prst="rect">
            <a:avLst/>
          </a:prstGeom>
          <a:noFill/>
        </p:spPr>
        <p:txBody>
          <a:bodyPr wrap="square">
            <a:spAutoFit/>
          </a:bodyPr>
          <a:lstStyle/>
          <a:p>
            <a:pPr>
              <a:buClr>
                <a:schemeClr val="tx1"/>
              </a:buClr>
            </a:pPr>
            <a:r>
              <a:rPr lang="en-US" sz="2000" b="1" dirty="0">
                <a:solidFill>
                  <a:schemeClr val="tx1"/>
                </a:solidFill>
                <a:latin typeface="Arial" panose="020B0604020202020204" pitchFamily="34" charset="0"/>
                <a:cs typeface="Arial" panose="020B0604020202020204" pitchFamily="34" charset="0"/>
              </a:rPr>
              <a:t>Basics of Java</a:t>
            </a:r>
            <a:endParaRPr lang="en-IN" sz="1800" b="1" dirty="0">
              <a:solidFill>
                <a:schemeClr val="tx1"/>
              </a:solidFill>
              <a:latin typeface="Arial" panose="020B0604020202020204" pitchFamily="34" charset="0"/>
              <a:cs typeface="Arial" panose="020B0604020202020204" pitchFamily="34" charset="0"/>
            </a:endParaRPr>
          </a:p>
          <a:p>
            <a:pPr marL="342900" indent="-342900">
              <a:buClr>
                <a:schemeClr val="tx1"/>
              </a:buClr>
              <a:buFont typeface="Arial" panose="020B0604020202020204" pitchFamily="34" charset="0"/>
              <a:buChar char="•"/>
            </a:pPr>
            <a:r>
              <a:rPr lang="en-IN" sz="1800" dirty="0">
                <a:solidFill>
                  <a:schemeClr val="tx1"/>
                </a:solidFill>
                <a:latin typeface="Arial" panose="020B0604020202020204" pitchFamily="34" charset="0"/>
                <a:cs typeface="Arial" panose="020B0604020202020204" pitchFamily="34" charset="0"/>
              </a:rPr>
              <a:t>Introduction &amp; History</a:t>
            </a:r>
          </a:p>
          <a:p>
            <a:pPr marL="342900" indent="-342900">
              <a:buClr>
                <a:schemeClr val="tx1"/>
              </a:buClr>
              <a:buFont typeface="Arial" panose="020B0604020202020204" pitchFamily="34" charset="0"/>
              <a:buChar char="•"/>
            </a:pPr>
            <a:r>
              <a:rPr lang="en-IN" sz="1800" dirty="0">
                <a:solidFill>
                  <a:schemeClr val="tx1"/>
                </a:solidFill>
                <a:latin typeface="Arial" panose="020B0604020202020204" pitchFamily="34" charset="0"/>
                <a:cs typeface="Arial" panose="020B0604020202020204" pitchFamily="34" charset="0"/>
              </a:rPr>
              <a:t>JDK,JRE &amp; JVM</a:t>
            </a:r>
          </a:p>
          <a:p>
            <a:pPr marL="342900" indent="-342900">
              <a:buClr>
                <a:schemeClr val="tx1"/>
              </a:buClr>
              <a:buFont typeface="Arial" panose="020B0604020202020204" pitchFamily="34" charset="0"/>
              <a:buChar char="•"/>
            </a:pPr>
            <a:r>
              <a:rPr lang="en-IN" sz="1800" dirty="0">
                <a:solidFill>
                  <a:schemeClr val="tx1"/>
                </a:solidFill>
                <a:latin typeface="Arial" panose="020B0604020202020204" pitchFamily="34" charset="0"/>
                <a:cs typeface="Arial" panose="020B0604020202020204" pitchFamily="34" charset="0"/>
              </a:rPr>
              <a:t>Installation of JDK</a:t>
            </a:r>
          </a:p>
          <a:p>
            <a:pPr marL="342900" indent="-342900">
              <a:buClr>
                <a:schemeClr val="tx1"/>
              </a:buClr>
              <a:buFont typeface="Arial" panose="020B0604020202020204" pitchFamily="34" charset="0"/>
              <a:buChar char="•"/>
            </a:pPr>
            <a:r>
              <a:rPr lang="en-IN" sz="1800" dirty="0">
                <a:solidFill>
                  <a:schemeClr val="tx1"/>
                </a:solidFill>
                <a:latin typeface="Arial" panose="020B0604020202020204" pitchFamily="34" charset="0"/>
                <a:cs typeface="Arial" panose="020B0604020202020204" pitchFamily="34" charset="0"/>
              </a:rPr>
              <a:t>Compilation &amp; Execution</a:t>
            </a:r>
          </a:p>
          <a:p>
            <a:pPr marL="342900" indent="-342900">
              <a:buClr>
                <a:schemeClr val="tx1"/>
              </a:buClr>
              <a:buFont typeface="Arial" panose="020B0604020202020204" pitchFamily="34" charset="0"/>
              <a:buChar char="•"/>
            </a:pPr>
            <a:r>
              <a:rPr lang="en-IN" sz="1800" dirty="0">
                <a:solidFill>
                  <a:schemeClr val="tx1"/>
                </a:solidFill>
                <a:latin typeface="Arial" panose="020B0604020202020204" pitchFamily="34" charset="0"/>
                <a:cs typeface="Arial" panose="020B0604020202020204" pitchFamily="34" charset="0"/>
              </a:rPr>
              <a:t>First Program</a:t>
            </a:r>
          </a:p>
          <a:p>
            <a:pPr marL="342900" indent="-342900">
              <a:buClr>
                <a:schemeClr val="tx1"/>
              </a:buClr>
              <a:buFont typeface="Arial" panose="020B0604020202020204" pitchFamily="34" charset="0"/>
              <a:buChar char="•"/>
            </a:pPr>
            <a:r>
              <a:rPr lang="en-IN" sz="1800" dirty="0">
                <a:solidFill>
                  <a:schemeClr val="tx1"/>
                </a:solidFill>
                <a:latin typeface="Arial" panose="020B0604020202020204" pitchFamily="34" charset="0"/>
                <a:cs typeface="Arial" panose="020B0604020202020204" pitchFamily="34" charset="0"/>
              </a:rPr>
              <a:t>Variables</a:t>
            </a:r>
          </a:p>
          <a:p>
            <a:pPr marL="342900" indent="-342900">
              <a:buClr>
                <a:schemeClr val="tx1"/>
              </a:buClr>
              <a:buFont typeface="Arial" panose="020B0604020202020204" pitchFamily="34" charset="0"/>
              <a:buChar char="•"/>
            </a:pPr>
            <a:r>
              <a:rPr lang="en-IN" sz="1800" dirty="0">
                <a:solidFill>
                  <a:schemeClr val="tx1"/>
                </a:solidFill>
                <a:latin typeface="Arial" panose="020B0604020202020204" pitchFamily="34" charset="0"/>
                <a:cs typeface="Arial" panose="020B0604020202020204" pitchFamily="34" charset="0"/>
              </a:rPr>
              <a:t>Functions</a:t>
            </a:r>
          </a:p>
          <a:p>
            <a:pPr marL="342900" indent="-342900">
              <a:buClr>
                <a:schemeClr val="tx1"/>
              </a:buClr>
              <a:buFont typeface="Arial" panose="020B0604020202020204" pitchFamily="34" charset="0"/>
              <a:buChar char="•"/>
            </a:pPr>
            <a:r>
              <a:rPr lang="en-IN" sz="1800" dirty="0">
                <a:solidFill>
                  <a:schemeClr val="tx1"/>
                </a:solidFill>
                <a:latin typeface="Arial" panose="020B0604020202020204" pitchFamily="34" charset="0"/>
                <a:cs typeface="Arial" panose="020B0604020202020204" pitchFamily="34" charset="0"/>
              </a:rPr>
              <a:t>Loops</a:t>
            </a:r>
          </a:p>
          <a:p>
            <a:pPr marL="342900" indent="-342900">
              <a:buClr>
                <a:schemeClr val="tx1"/>
              </a:buClr>
              <a:buFont typeface="Arial" panose="020B0604020202020204" pitchFamily="34" charset="0"/>
              <a:buChar char="•"/>
            </a:pPr>
            <a:r>
              <a:rPr lang="en-IN" sz="1800" dirty="0">
                <a:solidFill>
                  <a:schemeClr val="tx1"/>
                </a:solidFill>
                <a:latin typeface="Arial" panose="020B0604020202020204" pitchFamily="34" charset="0"/>
                <a:cs typeface="Arial" panose="020B0604020202020204" pitchFamily="34" charset="0"/>
              </a:rPr>
              <a:t>Conditions &amp; Statements</a:t>
            </a:r>
          </a:p>
          <a:p>
            <a:pPr marL="342900" indent="-342900">
              <a:buClr>
                <a:schemeClr val="tx1"/>
              </a:buClr>
              <a:buFont typeface="Arial" panose="020B0604020202020204" pitchFamily="34" charset="0"/>
              <a:buChar char="•"/>
            </a:pPr>
            <a:r>
              <a:rPr lang="en-IN" sz="1800" dirty="0">
                <a:solidFill>
                  <a:schemeClr val="tx1"/>
                </a:solidFill>
                <a:latin typeface="Arial" panose="020B0604020202020204" pitchFamily="34" charset="0"/>
                <a:cs typeface="Arial" panose="020B0604020202020204" pitchFamily="34" charset="0"/>
              </a:rPr>
              <a:t>Static &amp; Non-static</a:t>
            </a:r>
          </a:p>
          <a:p>
            <a:pPr marL="342900" indent="-342900">
              <a:buClr>
                <a:schemeClr val="tx1"/>
              </a:buClr>
              <a:buFont typeface="Arial" panose="020B0604020202020204" pitchFamily="34" charset="0"/>
              <a:buChar char="•"/>
            </a:pPr>
            <a:r>
              <a:rPr lang="en-IN" sz="1800" dirty="0">
                <a:solidFill>
                  <a:schemeClr val="tx1"/>
                </a:solidFill>
                <a:latin typeface="Arial" panose="020B0604020202020204" pitchFamily="34" charset="0"/>
                <a:cs typeface="Arial" panose="020B0604020202020204" pitchFamily="34" charset="0"/>
              </a:rPr>
              <a:t>Constructor</a:t>
            </a:r>
          </a:p>
          <a:p>
            <a:pPr marL="342900" indent="-342900">
              <a:buClr>
                <a:schemeClr val="tx1"/>
              </a:buClr>
              <a:buFont typeface="Arial" panose="020B0604020202020204" pitchFamily="34" charset="0"/>
              <a:buChar char="•"/>
            </a:pPr>
            <a:r>
              <a:rPr lang="en-IN" sz="1800" dirty="0">
                <a:solidFill>
                  <a:schemeClr val="tx1"/>
                </a:solidFill>
                <a:latin typeface="Arial" panose="020B0604020202020204" pitchFamily="34" charset="0"/>
                <a:cs typeface="Arial" panose="020B0604020202020204" pitchFamily="34" charset="0"/>
              </a:rPr>
              <a:t>Overloading</a:t>
            </a:r>
          </a:p>
          <a:p>
            <a:pPr marL="342900" indent="-342900">
              <a:buClr>
                <a:schemeClr val="tx1"/>
              </a:buClr>
              <a:buFont typeface="Arial" panose="020B0604020202020204" pitchFamily="34" charset="0"/>
              <a:buChar char="•"/>
            </a:pPr>
            <a:r>
              <a:rPr lang="en-IN" sz="1800" dirty="0">
                <a:solidFill>
                  <a:schemeClr val="tx1"/>
                </a:solidFill>
                <a:latin typeface="Arial" panose="020B0604020202020204" pitchFamily="34" charset="0"/>
                <a:cs typeface="Arial" panose="020B0604020202020204" pitchFamily="34" charset="0"/>
              </a:rPr>
              <a:t>Blocks</a:t>
            </a:r>
            <a:endParaRPr lang="en-US" sz="2000" dirty="0">
              <a:solidFill>
                <a:schemeClr val="tx1"/>
              </a:solidFill>
              <a:latin typeface="Arial" panose="020B0604020202020204" pitchFamily="34" charset="0"/>
              <a:cs typeface="Arial" panose="020B0604020202020204" pitchFamily="34" charset="0"/>
            </a:endParaRPr>
          </a:p>
        </p:txBody>
      </p:sp>
      <p:sp>
        <p:nvSpPr>
          <p:cNvPr id="7" name="TextBox 6">
            <a:extLst>
              <a:ext uri="{FF2B5EF4-FFF2-40B4-BE49-F238E27FC236}">
                <a16:creationId xmlns:a16="http://schemas.microsoft.com/office/drawing/2014/main" id="{3B236BC4-E640-0C92-BAC2-A8DAC7BE7D8C}"/>
              </a:ext>
            </a:extLst>
          </p:cNvPr>
          <p:cNvSpPr txBox="1"/>
          <p:nvPr/>
        </p:nvSpPr>
        <p:spPr>
          <a:xfrm>
            <a:off x="4137629" y="1084237"/>
            <a:ext cx="2185695" cy="5632311"/>
          </a:xfrm>
          <a:prstGeom prst="rect">
            <a:avLst/>
          </a:prstGeom>
          <a:noFill/>
        </p:spPr>
        <p:txBody>
          <a:bodyPr wrap="square">
            <a:spAutoFit/>
          </a:bodyPr>
          <a:lstStyle/>
          <a:p>
            <a:pPr algn="l">
              <a:buClr>
                <a:schemeClr val="tx1"/>
              </a:buClr>
            </a:pPr>
            <a:r>
              <a:rPr lang="en-US" b="1" dirty="0">
                <a:latin typeface="Arial" panose="020B0604020202020204" pitchFamily="34" charset="0"/>
                <a:cs typeface="Arial" panose="020B0604020202020204" pitchFamily="34" charset="0"/>
              </a:rPr>
              <a:t>OOP’s</a:t>
            </a:r>
          </a:p>
          <a:p>
            <a:pPr marL="342900" indent="-342900" algn="l">
              <a:buClr>
                <a:schemeClr val="tx1"/>
              </a:buClr>
              <a:buFont typeface="Arial" panose="020B0604020202020204" pitchFamily="34" charset="0"/>
              <a:buChar char="•"/>
            </a:pPr>
            <a:r>
              <a:rPr lang="en-IN" sz="1800" dirty="0">
                <a:solidFill>
                  <a:schemeClr val="tx1"/>
                </a:solidFill>
                <a:latin typeface="Arial" panose="020B0604020202020204" pitchFamily="34" charset="0"/>
                <a:cs typeface="Arial" panose="020B0604020202020204" pitchFamily="34" charset="0"/>
              </a:rPr>
              <a:t>Inheritance</a:t>
            </a:r>
          </a:p>
          <a:p>
            <a:pPr marL="342900" indent="-342900" algn="l">
              <a:buClr>
                <a:schemeClr val="tx1"/>
              </a:buClr>
              <a:buFont typeface="Arial" panose="020B0604020202020204" pitchFamily="34" charset="0"/>
              <a:buChar char="•"/>
            </a:pPr>
            <a:r>
              <a:rPr lang="en-IN" dirty="0">
                <a:latin typeface="Arial" panose="020B0604020202020204" pitchFamily="34" charset="0"/>
                <a:cs typeface="Arial" panose="020B0604020202020204" pitchFamily="34" charset="0"/>
              </a:rPr>
              <a:t>Abstraction</a:t>
            </a:r>
          </a:p>
          <a:p>
            <a:pPr marL="342900" indent="-342900" algn="l">
              <a:buClr>
                <a:schemeClr val="tx1"/>
              </a:buClr>
              <a:buFont typeface="Arial" panose="020B0604020202020204" pitchFamily="34" charset="0"/>
              <a:buChar char="•"/>
            </a:pPr>
            <a:r>
              <a:rPr lang="en-IN" sz="1800" dirty="0">
                <a:solidFill>
                  <a:schemeClr val="tx1"/>
                </a:solidFill>
                <a:latin typeface="Arial" panose="020B0604020202020204" pitchFamily="34" charset="0"/>
                <a:cs typeface="Arial" panose="020B0604020202020204" pitchFamily="34" charset="0"/>
              </a:rPr>
              <a:t>Interface</a:t>
            </a:r>
          </a:p>
          <a:p>
            <a:pPr marL="342900" indent="-342900" algn="l">
              <a:buClr>
                <a:schemeClr val="tx1"/>
              </a:buClr>
              <a:buFont typeface="Arial" panose="020B0604020202020204" pitchFamily="34" charset="0"/>
              <a:buChar char="•"/>
            </a:pPr>
            <a:r>
              <a:rPr lang="en-IN" dirty="0">
                <a:latin typeface="Arial" panose="020B0604020202020204" pitchFamily="34" charset="0"/>
                <a:cs typeface="Arial" panose="020B0604020202020204" pitchFamily="34" charset="0"/>
              </a:rPr>
              <a:t>Typecasting</a:t>
            </a:r>
          </a:p>
          <a:p>
            <a:pPr marL="342900" indent="-342900" algn="l">
              <a:buClr>
                <a:schemeClr val="tx1"/>
              </a:buClr>
              <a:buFont typeface="Arial" panose="020B0604020202020204" pitchFamily="34" charset="0"/>
              <a:buChar char="•"/>
            </a:pPr>
            <a:r>
              <a:rPr lang="en-IN" dirty="0">
                <a:latin typeface="Arial" panose="020B0604020202020204" pitchFamily="34" charset="0"/>
                <a:cs typeface="Arial" panose="020B0604020202020204" pitchFamily="34" charset="0"/>
              </a:rPr>
              <a:t>Polymorphism</a:t>
            </a:r>
          </a:p>
          <a:p>
            <a:pPr marL="342900" indent="-342900" algn="l">
              <a:buClr>
                <a:schemeClr val="tx1"/>
              </a:buClr>
              <a:buFont typeface="Arial" panose="020B0604020202020204" pitchFamily="34" charset="0"/>
              <a:buChar char="•"/>
            </a:pPr>
            <a:r>
              <a:rPr lang="en-IN" dirty="0">
                <a:latin typeface="Arial" panose="020B0604020202020204" pitchFamily="34" charset="0"/>
                <a:cs typeface="Arial" panose="020B0604020202020204" pitchFamily="34" charset="0"/>
              </a:rPr>
              <a:t>Package</a:t>
            </a:r>
          </a:p>
          <a:p>
            <a:pPr marL="342900" indent="-342900" algn="l">
              <a:buClr>
                <a:schemeClr val="tx1"/>
              </a:buClr>
              <a:buFont typeface="Arial" panose="020B0604020202020204" pitchFamily="34" charset="0"/>
              <a:buChar char="•"/>
            </a:pPr>
            <a:r>
              <a:rPr lang="en-IN" dirty="0">
                <a:latin typeface="Arial" panose="020B0604020202020204" pitchFamily="34" charset="0"/>
                <a:cs typeface="Arial" panose="020B0604020202020204" pitchFamily="34" charset="0"/>
              </a:rPr>
              <a:t>Encapsulation</a:t>
            </a:r>
          </a:p>
          <a:p>
            <a:pPr marL="342900" indent="-342900" algn="l">
              <a:buClr>
                <a:schemeClr val="tx1"/>
              </a:buClr>
              <a:buFont typeface="Arial" panose="020B0604020202020204" pitchFamily="34" charset="0"/>
              <a:buChar char="•"/>
            </a:pPr>
            <a:r>
              <a:rPr lang="en-IN" dirty="0">
                <a:latin typeface="Arial" panose="020B0604020202020204" pitchFamily="34" charset="0"/>
                <a:cs typeface="Arial" panose="020B0604020202020204" pitchFamily="34" charset="0"/>
              </a:rPr>
              <a:t>Array</a:t>
            </a:r>
          </a:p>
          <a:p>
            <a:pPr>
              <a:buClr>
                <a:schemeClr val="tx1"/>
              </a:buClr>
            </a:pPr>
            <a:endParaRPr lang="en-US" b="1" dirty="0">
              <a:latin typeface="Arial" panose="020B0604020202020204" pitchFamily="34" charset="0"/>
              <a:cs typeface="Arial" panose="020B0604020202020204" pitchFamily="34" charset="0"/>
            </a:endParaRPr>
          </a:p>
          <a:p>
            <a:pPr>
              <a:buClr>
                <a:schemeClr val="tx1"/>
              </a:buClr>
            </a:pPr>
            <a:r>
              <a:rPr lang="en-US" b="1" dirty="0">
                <a:latin typeface="Arial" panose="020B0604020202020204" pitchFamily="34" charset="0"/>
                <a:cs typeface="Arial" panose="020B0604020202020204" pitchFamily="34" charset="0"/>
              </a:rPr>
              <a:t>Predefined classes</a:t>
            </a:r>
          </a:p>
          <a:p>
            <a:pPr marL="285750" indent="-285750">
              <a:buClr>
                <a:schemeClr val="tx1"/>
              </a:buClr>
              <a:buFont typeface="Arial" panose="020B0604020202020204" pitchFamily="34" charset="0"/>
              <a:buChar char="•"/>
            </a:pPr>
            <a:r>
              <a:rPr lang="en-IN" dirty="0">
                <a:latin typeface="Arial" panose="020B0604020202020204" pitchFamily="34" charset="0"/>
                <a:cs typeface="Arial" panose="020B0604020202020204" pitchFamily="34" charset="0"/>
              </a:rPr>
              <a:t>S</a:t>
            </a:r>
            <a:r>
              <a:rPr lang="en-IN" sz="1800" dirty="0">
                <a:solidFill>
                  <a:schemeClr val="tx1"/>
                </a:solidFill>
                <a:latin typeface="Arial" panose="020B0604020202020204" pitchFamily="34" charset="0"/>
                <a:cs typeface="Arial" panose="020B0604020202020204" pitchFamily="34" charset="0"/>
              </a:rPr>
              <a:t>tring</a:t>
            </a:r>
          </a:p>
          <a:p>
            <a:pPr marL="285750" indent="-285750">
              <a:buClr>
                <a:schemeClr val="tx1"/>
              </a:buClr>
              <a:buFont typeface="Arial" panose="020B0604020202020204" pitchFamily="34" charset="0"/>
              <a:buChar char="•"/>
            </a:pPr>
            <a:r>
              <a:rPr lang="en-IN" dirty="0">
                <a:latin typeface="Arial" panose="020B0604020202020204" pitchFamily="34" charset="0"/>
                <a:cs typeface="Arial" panose="020B0604020202020204" pitchFamily="34" charset="0"/>
              </a:rPr>
              <a:t>System</a:t>
            </a:r>
          </a:p>
          <a:p>
            <a:pPr marL="285750" indent="-285750">
              <a:buClr>
                <a:schemeClr val="tx1"/>
              </a:buClr>
              <a:buFont typeface="Arial" panose="020B0604020202020204" pitchFamily="34" charset="0"/>
              <a:buChar char="•"/>
            </a:pPr>
            <a:r>
              <a:rPr lang="en-IN" sz="1800" dirty="0">
                <a:solidFill>
                  <a:schemeClr val="tx1"/>
                </a:solidFill>
                <a:latin typeface="Arial" panose="020B0604020202020204" pitchFamily="34" charset="0"/>
                <a:cs typeface="Arial" panose="020B0604020202020204" pitchFamily="34" charset="0"/>
              </a:rPr>
              <a:t>Scanner</a:t>
            </a:r>
          </a:p>
          <a:p>
            <a:pPr marL="285750" indent="-285750">
              <a:buClr>
                <a:schemeClr val="tx1"/>
              </a:buClr>
              <a:buFont typeface="Arial" panose="020B0604020202020204" pitchFamily="34" charset="0"/>
              <a:buChar char="•"/>
            </a:pPr>
            <a:r>
              <a:rPr lang="en-IN" dirty="0">
                <a:latin typeface="Arial" panose="020B0604020202020204" pitchFamily="34" charset="0"/>
                <a:cs typeface="Arial" panose="020B0604020202020204" pitchFamily="34" charset="0"/>
              </a:rPr>
              <a:t>Wrapper</a:t>
            </a:r>
          </a:p>
          <a:p>
            <a:pPr marL="285750" indent="-285750">
              <a:buClr>
                <a:schemeClr val="tx1"/>
              </a:buClr>
              <a:buFont typeface="Arial" panose="020B0604020202020204" pitchFamily="34" charset="0"/>
              <a:buChar char="•"/>
            </a:pPr>
            <a:r>
              <a:rPr lang="en-IN" sz="1800" dirty="0">
                <a:solidFill>
                  <a:schemeClr val="tx1"/>
                </a:solidFill>
                <a:latin typeface="Arial" panose="020B0604020202020204" pitchFamily="34" charset="0"/>
                <a:cs typeface="Arial" panose="020B0604020202020204" pitchFamily="34" charset="0"/>
              </a:rPr>
              <a:t>Date</a:t>
            </a:r>
          </a:p>
          <a:p>
            <a:pPr>
              <a:buClr>
                <a:schemeClr val="tx1"/>
              </a:buClr>
            </a:pPr>
            <a:endParaRPr lang="en-US" b="1" dirty="0">
              <a:latin typeface="Arial" panose="020B0604020202020204" pitchFamily="34" charset="0"/>
              <a:cs typeface="Arial" panose="020B0604020202020204" pitchFamily="34" charset="0"/>
            </a:endParaRPr>
          </a:p>
          <a:p>
            <a:pPr marL="342900" indent="-342900" algn="l">
              <a:buClr>
                <a:schemeClr val="tx1"/>
              </a:buClr>
              <a:buFont typeface="Arial" panose="020B0604020202020204" pitchFamily="34" charset="0"/>
              <a:buChar char="•"/>
            </a:pPr>
            <a:endParaRPr lang="en-IN" dirty="0">
              <a:latin typeface="Arial" panose="020B0604020202020204" pitchFamily="34" charset="0"/>
              <a:cs typeface="Arial" panose="020B0604020202020204" pitchFamily="34" charset="0"/>
            </a:endParaRPr>
          </a:p>
          <a:p>
            <a:pPr algn="l">
              <a:buClr>
                <a:schemeClr val="tx1"/>
              </a:buClr>
            </a:pPr>
            <a:endParaRPr lang="en-IN" sz="1800" dirty="0">
              <a:solidFill>
                <a:schemeClr val="tx1"/>
              </a:solidFill>
              <a:latin typeface="Arial" panose="020B0604020202020204" pitchFamily="34" charset="0"/>
              <a:cs typeface="Arial" panose="020B0604020202020204" pitchFamily="34" charset="0"/>
            </a:endParaRPr>
          </a:p>
        </p:txBody>
      </p:sp>
      <p:sp>
        <p:nvSpPr>
          <p:cNvPr id="9" name="TextBox 8">
            <a:extLst>
              <a:ext uri="{FF2B5EF4-FFF2-40B4-BE49-F238E27FC236}">
                <a16:creationId xmlns:a16="http://schemas.microsoft.com/office/drawing/2014/main" id="{11F38419-A87D-C242-2A69-9EEA5B7CBA2D}"/>
              </a:ext>
            </a:extLst>
          </p:cNvPr>
          <p:cNvSpPr txBox="1"/>
          <p:nvPr/>
        </p:nvSpPr>
        <p:spPr>
          <a:xfrm>
            <a:off x="6738038" y="939909"/>
            <a:ext cx="2846833" cy="5078313"/>
          </a:xfrm>
          <a:prstGeom prst="rect">
            <a:avLst/>
          </a:prstGeom>
          <a:noFill/>
        </p:spPr>
        <p:txBody>
          <a:bodyPr wrap="square">
            <a:spAutoFit/>
          </a:bodyPr>
          <a:lstStyle/>
          <a:p>
            <a:pPr algn="l">
              <a:buClr>
                <a:schemeClr val="tx1"/>
              </a:buClr>
            </a:pPr>
            <a:r>
              <a:rPr lang="en-US" b="1" dirty="0">
                <a:latin typeface="Arial" panose="020B0604020202020204" pitchFamily="34" charset="0"/>
                <a:cs typeface="Arial" panose="020B0604020202020204" pitchFamily="34" charset="0"/>
              </a:rPr>
              <a:t>Exception Handling</a:t>
            </a:r>
          </a:p>
          <a:p>
            <a:pPr marL="342900" indent="-342900" algn="l">
              <a:buClr>
                <a:schemeClr val="tx1"/>
              </a:buClr>
              <a:buFont typeface="Arial" panose="020B0604020202020204" pitchFamily="34" charset="0"/>
              <a:buChar char="•"/>
            </a:pPr>
            <a:r>
              <a:rPr lang="en-IN" dirty="0">
                <a:latin typeface="Arial" panose="020B0604020202020204" pitchFamily="34" charset="0"/>
                <a:cs typeface="Arial" panose="020B0604020202020204" pitchFamily="34" charset="0"/>
              </a:rPr>
              <a:t>E</a:t>
            </a:r>
            <a:r>
              <a:rPr lang="en-IN" sz="1800" dirty="0">
                <a:solidFill>
                  <a:schemeClr val="tx1"/>
                </a:solidFill>
                <a:latin typeface="Arial" panose="020B0604020202020204" pitchFamily="34" charset="0"/>
                <a:cs typeface="Arial" panose="020B0604020202020204" pitchFamily="34" charset="0"/>
              </a:rPr>
              <a:t>rror &amp;</a:t>
            </a:r>
            <a:r>
              <a:rPr lang="en-IN" dirty="0">
                <a:latin typeface="Arial" panose="020B0604020202020204" pitchFamily="34" charset="0"/>
                <a:cs typeface="Arial" panose="020B0604020202020204" pitchFamily="34" charset="0"/>
              </a:rPr>
              <a:t> </a:t>
            </a:r>
            <a:r>
              <a:rPr lang="en-IN" sz="1800" dirty="0">
                <a:solidFill>
                  <a:schemeClr val="tx1"/>
                </a:solidFill>
                <a:latin typeface="Arial" panose="020B0604020202020204" pitchFamily="34" charset="0"/>
                <a:cs typeface="Arial" panose="020B0604020202020204" pitchFamily="34" charset="0"/>
              </a:rPr>
              <a:t>Exception</a:t>
            </a:r>
          </a:p>
          <a:p>
            <a:pPr marL="342900" indent="-342900" algn="l">
              <a:buClr>
                <a:schemeClr val="tx1"/>
              </a:buClr>
              <a:buFont typeface="Arial" panose="020B0604020202020204" pitchFamily="34" charset="0"/>
              <a:buChar char="•"/>
            </a:pPr>
            <a:r>
              <a:rPr lang="en-IN" dirty="0">
                <a:latin typeface="Arial" panose="020B0604020202020204" pitchFamily="34" charset="0"/>
                <a:cs typeface="Arial" panose="020B0604020202020204" pitchFamily="34" charset="0"/>
              </a:rPr>
              <a:t>Checked/Unchecked Exception</a:t>
            </a:r>
          </a:p>
          <a:p>
            <a:pPr marL="342900" indent="-342900" algn="l">
              <a:buClr>
                <a:schemeClr val="tx1"/>
              </a:buClr>
              <a:buFont typeface="Arial" panose="020B0604020202020204" pitchFamily="34" charset="0"/>
              <a:buChar char="•"/>
            </a:pPr>
            <a:r>
              <a:rPr lang="en-IN" dirty="0">
                <a:latin typeface="Arial" panose="020B0604020202020204" pitchFamily="34" charset="0"/>
                <a:cs typeface="Arial" panose="020B0604020202020204" pitchFamily="34" charset="0"/>
              </a:rPr>
              <a:t>Try-Catch Block</a:t>
            </a:r>
          </a:p>
          <a:p>
            <a:pPr marL="342900" indent="-342900" algn="l">
              <a:buClr>
                <a:schemeClr val="tx1"/>
              </a:buClr>
              <a:buFont typeface="Arial" panose="020B0604020202020204" pitchFamily="34" charset="0"/>
              <a:buChar char="•"/>
            </a:pPr>
            <a:r>
              <a:rPr lang="en-IN" dirty="0">
                <a:latin typeface="Arial" panose="020B0604020202020204" pitchFamily="34" charset="0"/>
                <a:cs typeface="Arial" panose="020B0604020202020204" pitchFamily="34" charset="0"/>
              </a:rPr>
              <a:t>Finally Block</a:t>
            </a:r>
          </a:p>
          <a:p>
            <a:pPr marL="342900" indent="-342900" algn="l">
              <a:buClr>
                <a:schemeClr val="tx1"/>
              </a:buClr>
              <a:buFont typeface="Arial" panose="020B0604020202020204" pitchFamily="34" charset="0"/>
              <a:buChar char="•"/>
            </a:pPr>
            <a:r>
              <a:rPr lang="en-IN" dirty="0">
                <a:latin typeface="Arial" panose="020B0604020202020204" pitchFamily="34" charset="0"/>
                <a:cs typeface="Arial" panose="020B0604020202020204" pitchFamily="34" charset="0"/>
              </a:rPr>
              <a:t>Throws and Throw</a:t>
            </a:r>
          </a:p>
          <a:p>
            <a:pPr algn="l">
              <a:buClr>
                <a:schemeClr val="tx1"/>
              </a:buClr>
            </a:pPr>
            <a:endParaRPr lang="en-IN" dirty="0">
              <a:latin typeface="Arial" panose="020B0604020202020204" pitchFamily="34" charset="0"/>
              <a:cs typeface="Arial" panose="020B0604020202020204" pitchFamily="34" charset="0"/>
            </a:endParaRPr>
          </a:p>
          <a:p>
            <a:pPr algn="l">
              <a:buClr>
                <a:schemeClr val="tx1"/>
              </a:buClr>
            </a:pPr>
            <a:r>
              <a:rPr lang="en-US" b="1" dirty="0">
                <a:latin typeface="Arial" panose="020B0604020202020204" pitchFamily="34" charset="0"/>
                <a:cs typeface="Arial" panose="020B0604020202020204" pitchFamily="34" charset="0"/>
              </a:rPr>
              <a:t>Collection Framework</a:t>
            </a:r>
          </a:p>
          <a:p>
            <a:pPr marL="342900" indent="-342900" algn="l">
              <a:buClr>
                <a:schemeClr val="tx1"/>
              </a:buClr>
              <a:buFont typeface="Arial" panose="020B0604020202020204" pitchFamily="34" charset="0"/>
              <a:buChar char="•"/>
            </a:pPr>
            <a:r>
              <a:rPr lang="en-IN" sz="1800" dirty="0">
                <a:solidFill>
                  <a:schemeClr val="tx1"/>
                </a:solidFill>
                <a:latin typeface="Arial" panose="020B0604020202020204" pitchFamily="34" charset="0"/>
                <a:cs typeface="Arial" panose="020B0604020202020204" pitchFamily="34" charset="0"/>
              </a:rPr>
              <a:t>List</a:t>
            </a:r>
          </a:p>
          <a:p>
            <a:pPr marL="342900" indent="-342900" algn="l">
              <a:buClr>
                <a:schemeClr val="tx1"/>
              </a:buClr>
              <a:buFont typeface="Arial" panose="020B0604020202020204" pitchFamily="34" charset="0"/>
              <a:buChar char="•"/>
            </a:pPr>
            <a:r>
              <a:rPr lang="en-IN" dirty="0">
                <a:latin typeface="Arial" panose="020B0604020202020204" pitchFamily="34" charset="0"/>
                <a:cs typeface="Arial" panose="020B0604020202020204" pitchFamily="34" charset="0"/>
              </a:rPr>
              <a:t>Queue</a:t>
            </a:r>
          </a:p>
          <a:p>
            <a:pPr marL="342900" indent="-342900" algn="l">
              <a:buClr>
                <a:schemeClr val="tx1"/>
              </a:buClr>
              <a:buFont typeface="Arial" panose="020B0604020202020204" pitchFamily="34" charset="0"/>
              <a:buChar char="•"/>
            </a:pPr>
            <a:r>
              <a:rPr lang="en-IN" sz="1800" dirty="0">
                <a:solidFill>
                  <a:schemeClr val="tx1"/>
                </a:solidFill>
                <a:latin typeface="Arial" panose="020B0604020202020204" pitchFamily="34" charset="0"/>
                <a:cs typeface="Arial" panose="020B0604020202020204" pitchFamily="34" charset="0"/>
              </a:rPr>
              <a:t>Se</a:t>
            </a:r>
            <a:r>
              <a:rPr lang="en-IN" dirty="0">
                <a:latin typeface="Arial" panose="020B0604020202020204" pitchFamily="34" charset="0"/>
                <a:cs typeface="Arial" panose="020B0604020202020204" pitchFamily="34" charset="0"/>
              </a:rPr>
              <a:t>t</a:t>
            </a:r>
          </a:p>
          <a:p>
            <a:pPr marL="342900" indent="-342900" algn="l">
              <a:buClr>
                <a:schemeClr val="tx1"/>
              </a:buClr>
              <a:buFont typeface="Arial" panose="020B0604020202020204" pitchFamily="34" charset="0"/>
              <a:buChar char="•"/>
            </a:pPr>
            <a:r>
              <a:rPr lang="en-IN" sz="1800" dirty="0">
                <a:solidFill>
                  <a:schemeClr val="tx1"/>
                </a:solidFill>
                <a:latin typeface="Arial" panose="020B0604020202020204" pitchFamily="34" charset="0"/>
                <a:cs typeface="Arial" panose="020B0604020202020204" pitchFamily="34" charset="0"/>
              </a:rPr>
              <a:t>Map</a:t>
            </a:r>
          </a:p>
          <a:p>
            <a:pPr marL="342900" indent="-342900" algn="l">
              <a:buClr>
                <a:schemeClr val="tx1"/>
              </a:buClr>
              <a:buFont typeface="Arial" panose="020B0604020202020204" pitchFamily="34" charset="0"/>
              <a:buChar char="•"/>
            </a:pPr>
            <a:r>
              <a:rPr lang="en-IN" dirty="0">
                <a:latin typeface="Arial" panose="020B0604020202020204" pitchFamily="34" charset="0"/>
                <a:cs typeface="Arial" panose="020B0604020202020204" pitchFamily="34" charset="0"/>
              </a:rPr>
              <a:t>Collections</a:t>
            </a:r>
          </a:p>
          <a:p>
            <a:pPr marL="342900" indent="-342900" algn="l">
              <a:buClr>
                <a:schemeClr val="tx1"/>
              </a:buClr>
              <a:buFont typeface="Arial" panose="020B0604020202020204" pitchFamily="34" charset="0"/>
              <a:buChar char="•"/>
            </a:pPr>
            <a:r>
              <a:rPr lang="en-IN" sz="1800" dirty="0">
                <a:solidFill>
                  <a:schemeClr val="tx1"/>
                </a:solidFill>
                <a:latin typeface="Arial" panose="020B0604020202020204" pitchFamily="34" charset="0"/>
                <a:cs typeface="Arial" panose="020B0604020202020204" pitchFamily="34" charset="0"/>
              </a:rPr>
              <a:t>Generics</a:t>
            </a:r>
          </a:p>
          <a:p>
            <a:pPr algn="l">
              <a:buClr>
                <a:schemeClr val="tx1"/>
              </a:buClr>
            </a:pPr>
            <a:endParaRPr lang="en-IN" dirty="0">
              <a:latin typeface="Arial" panose="020B0604020202020204" pitchFamily="34" charset="0"/>
              <a:cs typeface="Arial" panose="020B0604020202020204" pitchFamily="34" charset="0"/>
            </a:endParaRPr>
          </a:p>
          <a:p>
            <a:pPr>
              <a:buClr>
                <a:schemeClr val="tx1"/>
              </a:buClr>
            </a:pPr>
            <a:endParaRPr lang="en-US" b="1" dirty="0">
              <a:latin typeface="Arial" panose="020B0604020202020204" pitchFamily="34" charset="0"/>
              <a:cs typeface="Arial" panose="020B0604020202020204" pitchFamily="34" charset="0"/>
            </a:endParaRPr>
          </a:p>
          <a:p>
            <a:pPr algn="l">
              <a:buClr>
                <a:schemeClr val="tx1"/>
              </a:buClr>
            </a:pPr>
            <a:endParaRPr lang="en-IN" sz="1800" dirty="0">
              <a:solidFill>
                <a:schemeClr val="tx1"/>
              </a:solidFill>
              <a:latin typeface="Arial" panose="020B0604020202020204" pitchFamily="34" charset="0"/>
              <a:cs typeface="Arial" panose="020B0604020202020204" pitchFamily="34" charset="0"/>
            </a:endParaRPr>
          </a:p>
        </p:txBody>
      </p:sp>
      <p:cxnSp>
        <p:nvCxnSpPr>
          <p:cNvPr id="11" name="Straight Connector 10">
            <a:extLst>
              <a:ext uri="{FF2B5EF4-FFF2-40B4-BE49-F238E27FC236}">
                <a16:creationId xmlns:a16="http://schemas.microsoft.com/office/drawing/2014/main" id="{BDA0A958-36DE-6DDB-1F46-B80425504315}"/>
              </a:ext>
            </a:extLst>
          </p:cNvPr>
          <p:cNvCxnSpPr>
            <a:cxnSpLocks/>
          </p:cNvCxnSpPr>
          <p:nvPr/>
        </p:nvCxnSpPr>
        <p:spPr>
          <a:xfrm>
            <a:off x="709127" y="755780"/>
            <a:ext cx="8875744"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5800740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162DB9-7360-9D32-1285-D2B931415FF5}"/>
              </a:ext>
            </a:extLst>
          </p:cNvPr>
          <p:cNvSpPr>
            <a:spLocks noGrp="1"/>
          </p:cNvSpPr>
          <p:nvPr>
            <p:ph type="title"/>
          </p:nvPr>
        </p:nvSpPr>
        <p:spPr>
          <a:xfrm>
            <a:off x="677334" y="609600"/>
            <a:ext cx="8596668" cy="901959"/>
          </a:xfrm>
        </p:spPr>
        <p:txBody>
          <a:bodyPr/>
          <a:lstStyle/>
          <a:p>
            <a:r>
              <a:rPr lang="en-US" dirty="0">
                <a:solidFill>
                  <a:schemeClr val="tx1"/>
                </a:solidFill>
                <a:latin typeface="Arial" panose="020B0604020202020204" pitchFamily="34" charset="0"/>
                <a:cs typeface="Arial" panose="020B0604020202020204" pitchFamily="34" charset="0"/>
              </a:rPr>
              <a:t>Where is Java Used?</a:t>
            </a:r>
            <a:endParaRPr lang="en-IN" dirty="0">
              <a:solidFill>
                <a:schemeClr val="tx1"/>
              </a:solidFill>
              <a:latin typeface="Arial" panose="020B0604020202020204" pitchFamily="34" charset="0"/>
              <a:cs typeface="Arial" panose="020B0604020202020204" pitchFamily="34" charset="0"/>
            </a:endParaRPr>
          </a:p>
        </p:txBody>
      </p:sp>
      <p:sp>
        <p:nvSpPr>
          <p:cNvPr id="3" name="Content Placeholder 2">
            <a:extLst>
              <a:ext uri="{FF2B5EF4-FFF2-40B4-BE49-F238E27FC236}">
                <a16:creationId xmlns:a16="http://schemas.microsoft.com/office/drawing/2014/main" id="{82DC0273-D86D-5383-FDBB-D74018D25092}"/>
              </a:ext>
            </a:extLst>
          </p:cNvPr>
          <p:cNvSpPr>
            <a:spLocks noGrp="1"/>
          </p:cNvSpPr>
          <p:nvPr>
            <p:ph idx="1"/>
          </p:nvPr>
        </p:nvSpPr>
        <p:spPr>
          <a:xfrm>
            <a:off x="888137" y="1418253"/>
            <a:ext cx="8596668" cy="4427166"/>
          </a:xfrm>
        </p:spPr>
        <p:txBody>
          <a:bodyPr>
            <a:normAutofit/>
          </a:bodyPr>
          <a:lstStyle/>
          <a:p>
            <a:pPr>
              <a:buClr>
                <a:schemeClr val="tx1"/>
              </a:buClr>
            </a:pPr>
            <a:r>
              <a:rPr lang="en-US" dirty="0"/>
              <a:t>According to sun , 3 billion devices runs java.</a:t>
            </a:r>
          </a:p>
          <a:p>
            <a:pPr>
              <a:buClr>
                <a:schemeClr val="tx1"/>
              </a:buClr>
            </a:pPr>
            <a:r>
              <a:rPr lang="en-US" dirty="0"/>
              <a:t>There are many devices where java is currently used</a:t>
            </a:r>
            <a:r>
              <a:rPr lang="en-IN" dirty="0"/>
              <a:t>.</a:t>
            </a:r>
          </a:p>
          <a:p>
            <a:pPr lvl="1">
              <a:buClr>
                <a:schemeClr val="tx1"/>
              </a:buClr>
              <a:buFont typeface="Arial" panose="020B0604020202020204" pitchFamily="34" charset="0"/>
              <a:buChar char="•"/>
            </a:pPr>
            <a:r>
              <a:rPr lang="en-IN" sz="1900" dirty="0"/>
              <a:t>Desktop Applications – Acrobat reader, Media Player, Antiviruses etc.</a:t>
            </a:r>
          </a:p>
          <a:p>
            <a:pPr lvl="1">
              <a:buClr>
                <a:schemeClr val="tx1"/>
              </a:buClr>
              <a:buFont typeface="Arial" panose="020B0604020202020204" pitchFamily="34" charset="0"/>
              <a:buChar char="•"/>
            </a:pPr>
            <a:r>
              <a:rPr lang="en-IN" sz="1900" dirty="0"/>
              <a:t>Web Applications – irctc.co.in, javatpoint.com etc.</a:t>
            </a:r>
          </a:p>
          <a:p>
            <a:pPr lvl="1">
              <a:buClr>
                <a:schemeClr val="tx1"/>
              </a:buClr>
              <a:buFont typeface="Arial" panose="020B0604020202020204" pitchFamily="34" charset="0"/>
              <a:buChar char="•"/>
            </a:pPr>
            <a:r>
              <a:rPr lang="en-IN" sz="1900" dirty="0"/>
              <a:t>Enterprise Application – Banking Application, Business Application.</a:t>
            </a:r>
          </a:p>
          <a:p>
            <a:pPr lvl="1">
              <a:buClr>
                <a:schemeClr val="tx1"/>
              </a:buClr>
              <a:buFont typeface="Arial" panose="020B0604020202020204" pitchFamily="34" charset="0"/>
              <a:buChar char="•"/>
            </a:pPr>
            <a:r>
              <a:rPr lang="en-IN" sz="1900" dirty="0"/>
              <a:t>Mobile</a:t>
            </a:r>
          </a:p>
          <a:p>
            <a:pPr lvl="1">
              <a:buClr>
                <a:schemeClr val="tx1"/>
              </a:buClr>
              <a:buFont typeface="Arial" panose="020B0604020202020204" pitchFamily="34" charset="0"/>
              <a:buChar char="•"/>
            </a:pPr>
            <a:r>
              <a:rPr lang="en-IN" sz="1900" dirty="0"/>
              <a:t>Embedded systems</a:t>
            </a:r>
          </a:p>
          <a:p>
            <a:pPr lvl="1">
              <a:buClr>
                <a:schemeClr val="tx1"/>
              </a:buClr>
              <a:buFont typeface="Arial" panose="020B0604020202020204" pitchFamily="34" charset="0"/>
              <a:buChar char="•"/>
            </a:pPr>
            <a:r>
              <a:rPr lang="en-IN" sz="1900" dirty="0"/>
              <a:t>Games</a:t>
            </a:r>
          </a:p>
          <a:p>
            <a:pPr lvl="1">
              <a:buClr>
                <a:schemeClr val="tx1"/>
              </a:buClr>
              <a:buFont typeface="Arial" panose="020B0604020202020204" pitchFamily="34" charset="0"/>
              <a:buChar char="•"/>
            </a:pPr>
            <a:r>
              <a:rPr lang="en-IN" sz="1900" dirty="0"/>
              <a:t>Robotics</a:t>
            </a:r>
          </a:p>
          <a:p>
            <a:pPr>
              <a:buClr>
                <a:schemeClr val="tx1"/>
              </a:buClr>
              <a:buFont typeface="Arial" panose="020B0604020202020204" pitchFamily="34" charset="0"/>
              <a:buChar char="•"/>
            </a:pPr>
            <a:endParaRPr lang="en-IN" dirty="0"/>
          </a:p>
          <a:p>
            <a:pPr marL="0" indent="0">
              <a:buClr>
                <a:schemeClr val="tx1"/>
              </a:buClr>
              <a:buNone/>
            </a:pPr>
            <a:endParaRPr lang="en-IN" dirty="0"/>
          </a:p>
          <a:p>
            <a:pPr>
              <a:buFont typeface="Arial" panose="020B0604020202020204" pitchFamily="34" charset="0"/>
              <a:buChar char="•"/>
            </a:pPr>
            <a:endParaRPr lang="en-US" dirty="0"/>
          </a:p>
        </p:txBody>
      </p:sp>
      <p:cxnSp>
        <p:nvCxnSpPr>
          <p:cNvPr id="5" name="Straight Connector 4">
            <a:extLst>
              <a:ext uri="{FF2B5EF4-FFF2-40B4-BE49-F238E27FC236}">
                <a16:creationId xmlns:a16="http://schemas.microsoft.com/office/drawing/2014/main" id="{4189D650-27B8-DB02-30D4-883E983ED2C9}"/>
              </a:ext>
            </a:extLst>
          </p:cNvPr>
          <p:cNvCxnSpPr/>
          <p:nvPr/>
        </p:nvCxnSpPr>
        <p:spPr>
          <a:xfrm>
            <a:off x="0" y="1212980"/>
            <a:ext cx="9573208"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355367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BB0942-41D9-3500-7513-43179887ACD9}"/>
              </a:ext>
            </a:extLst>
          </p:cNvPr>
          <p:cNvSpPr>
            <a:spLocks noGrp="1"/>
          </p:cNvSpPr>
          <p:nvPr>
            <p:ph type="title"/>
          </p:nvPr>
        </p:nvSpPr>
        <p:spPr>
          <a:xfrm>
            <a:off x="677334" y="391886"/>
            <a:ext cx="8596668" cy="849086"/>
          </a:xfrm>
        </p:spPr>
        <p:txBody>
          <a:bodyPr>
            <a:normAutofit/>
          </a:bodyPr>
          <a:lstStyle/>
          <a:p>
            <a:r>
              <a:rPr lang="en-US" dirty="0">
                <a:solidFill>
                  <a:schemeClr val="tx1"/>
                </a:solidFill>
                <a:latin typeface="Arial" panose="020B0604020202020204" pitchFamily="34" charset="0"/>
                <a:cs typeface="Arial" panose="020B0604020202020204" pitchFamily="34" charset="0"/>
              </a:rPr>
              <a:t>Features of Java</a:t>
            </a:r>
            <a:endParaRPr lang="en-IN" dirty="0">
              <a:solidFill>
                <a:schemeClr val="tx1"/>
              </a:solidFill>
              <a:latin typeface="Arial" panose="020B0604020202020204" pitchFamily="34" charset="0"/>
              <a:cs typeface="Arial" panose="020B0604020202020204" pitchFamily="34" charset="0"/>
            </a:endParaRPr>
          </a:p>
        </p:txBody>
      </p:sp>
      <p:sp>
        <p:nvSpPr>
          <p:cNvPr id="3" name="Content Placeholder 2">
            <a:extLst>
              <a:ext uri="{FF2B5EF4-FFF2-40B4-BE49-F238E27FC236}">
                <a16:creationId xmlns:a16="http://schemas.microsoft.com/office/drawing/2014/main" id="{581F09A6-F604-2814-1C7D-26B621DED02C}"/>
              </a:ext>
            </a:extLst>
          </p:cNvPr>
          <p:cNvSpPr>
            <a:spLocks noGrp="1"/>
          </p:cNvSpPr>
          <p:nvPr>
            <p:ph idx="1"/>
          </p:nvPr>
        </p:nvSpPr>
        <p:spPr>
          <a:xfrm>
            <a:off x="677334" y="1240972"/>
            <a:ext cx="8596668" cy="5617028"/>
          </a:xfrm>
        </p:spPr>
        <p:txBody>
          <a:bodyPr>
            <a:normAutofit lnSpcReduction="10000"/>
          </a:bodyPr>
          <a:lstStyle/>
          <a:p>
            <a:pPr marL="0" indent="0">
              <a:buNone/>
            </a:pPr>
            <a:r>
              <a:rPr lang="en-US" dirty="0"/>
              <a:t>Here is some important features of Java:</a:t>
            </a:r>
            <a:endParaRPr lang="en-IN" dirty="0"/>
          </a:p>
          <a:p>
            <a:pPr>
              <a:buClrTx/>
              <a:buFont typeface="Arial" panose="020B0604020202020204" pitchFamily="34" charset="0"/>
              <a:buChar char="•"/>
            </a:pPr>
            <a:r>
              <a:rPr lang="en-US" dirty="0"/>
              <a:t>It is one of the easy to use programming language to learn.</a:t>
            </a:r>
          </a:p>
          <a:p>
            <a:pPr>
              <a:buClrTx/>
              <a:buFont typeface="Arial" panose="020B0604020202020204" pitchFamily="34" charset="0"/>
              <a:buChar char="•"/>
            </a:pPr>
            <a:r>
              <a:rPr lang="en-US" dirty="0"/>
              <a:t>WORA( Write once run anywhere).</a:t>
            </a:r>
          </a:p>
          <a:p>
            <a:pPr>
              <a:buClrTx/>
              <a:buFont typeface="Arial" panose="020B0604020202020204" pitchFamily="34" charset="0"/>
              <a:buChar char="•"/>
            </a:pPr>
            <a:r>
              <a:rPr lang="en-US" dirty="0"/>
              <a:t>Java is a platform independent. Some program developed in one machine can be executed in another machine.</a:t>
            </a:r>
          </a:p>
          <a:p>
            <a:pPr>
              <a:buClrTx/>
              <a:buFont typeface="Arial" panose="020B0604020202020204" pitchFamily="34" charset="0"/>
              <a:buChar char="•"/>
            </a:pPr>
            <a:r>
              <a:rPr lang="en-US" dirty="0"/>
              <a:t>It is designed for building object oriented application.</a:t>
            </a:r>
          </a:p>
          <a:p>
            <a:pPr>
              <a:buClrTx/>
              <a:buFont typeface="Arial" panose="020B0604020202020204" pitchFamily="34" charset="0"/>
              <a:buChar char="•"/>
            </a:pPr>
            <a:r>
              <a:rPr lang="en-US" dirty="0"/>
              <a:t>It is multithreaded language with automatic memory management.</a:t>
            </a:r>
          </a:p>
          <a:p>
            <a:pPr>
              <a:buClrTx/>
              <a:buFont typeface="Arial" panose="020B0604020202020204" pitchFamily="34" charset="0"/>
              <a:buChar char="•"/>
            </a:pPr>
            <a:r>
              <a:rPr lang="en-US" dirty="0"/>
              <a:t>It is created for the distributed environment of the internet.</a:t>
            </a:r>
          </a:p>
          <a:p>
            <a:pPr>
              <a:buClrTx/>
              <a:buFont typeface="Arial" panose="020B0604020202020204" pitchFamily="34" charset="0"/>
              <a:buChar char="•"/>
            </a:pPr>
            <a:r>
              <a:rPr lang="en-US" dirty="0"/>
              <a:t>Secured – Java does not support pointer so your code is secure. It run inside the virtual machine not directly on O.S. Byte code verifier is there before sending code to JVM.</a:t>
            </a:r>
          </a:p>
          <a:p>
            <a:pPr>
              <a:buClrTx/>
              <a:buFont typeface="Arial" panose="020B0604020202020204" pitchFamily="34" charset="0"/>
              <a:buChar char="•"/>
            </a:pPr>
            <a:r>
              <a:rPr lang="en-US" dirty="0"/>
              <a:t>Robust- English meaning of robust is strong, so strong memory management provided(Automatic garbage collection).</a:t>
            </a:r>
          </a:p>
          <a:p>
            <a:pPr>
              <a:buClrTx/>
              <a:buFont typeface="Arial" panose="020B0604020202020204" pitchFamily="34" charset="0"/>
              <a:buChar char="•"/>
            </a:pPr>
            <a:r>
              <a:rPr lang="en-US" dirty="0"/>
              <a:t>High Performance.</a:t>
            </a:r>
          </a:p>
          <a:p>
            <a:pPr>
              <a:buClrTx/>
              <a:buFont typeface="Arial" panose="020B0604020202020204" pitchFamily="34" charset="0"/>
              <a:buChar char="•"/>
            </a:pPr>
            <a:r>
              <a:rPr lang="en-US" dirty="0"/>
              <a:t>Dynamic – Dynamic language. Supports dynamic loading of class </a:t>
            </a:r>
            <a:r>
              <a:rPr lang="en-US" dirty="0" err="1"/>
              <a:t>i.e</a:t>
            </a:r>
            <a:r>
              <a:rPr lang="en-US" dirty="0"/>
              <a:t> classes loads on demand.</a:t>
            </a:r>
          </a:p>
          <a:p>
            <a:pPr>
              <a:buClrTx/>
              <a:buFont typeface="Arial" panose="020B0604020202020204" pitchFamily="34" charset="0"/>
              <a:buChar char="•"/>
            </a:pPr>
            <a:endParaRPr lang="en-US" dirty="0"/>
          </a:p>
          <a:p>
            <a:pPr>
              <a:buClrTx/>
              <a:buFont typeface="Arial" panose="020B0604020202020204" pitchFamily="34" charset="0"/>
              <a:buChar char="•"/>
            </a:pPr>
            <a:endParaRPr lang="en-US" dirty="0"/>
          </a:p>
          <a:p>
            <a:pPr>
              <a:buClrTx/>
              <a:buFont typeface="Arial" panose="020B0604020202020204" pitchFamily="34" charset="0"/>
              <a:buChar char="•"/>
            </a:pPr>
            <a:endParaRPr lang="en-US" dirty="0"/>
          </a:p>
          <a:p>
            <a:pPr>
              <a:buClrTx/>
              <a:buFont typeface="Arial" panose="020B0604020202020204" pitchFamily="34" charset="0"/>
              <a:buChar char="•"/>
            </a:pPr>
            <a:endParaRPr lang="en-IN" dirty="0"/>
          </a:p>
        </p:txBody>
      </p:sp>
      <p:cxnSp>
        <p:nvCxnSpPr>
          <p:cNvPr id="5" name="Straight Connector 4">
            <a:extLst>
              <a:ext uri="{FF2B5EF4-FFF2-40B4-BE49-F238E27FC236}">
                <a16:creationId xmlns:a16="http://schemas.microsoft.com/office/drawing/2014/main" id="{ACB8DF51-8D28-07D3-CF7F-4FE7A374DF12}"/>
              </a:ext>
            </a:extLst>
          </p:cNvPr>
          <p:cNvCxnSpPr/>
          <p:nvPr/>
        </p:nvCxnSpPr>
        <p:spPr>
          <a:xfrm>
            <a:off x="0" y="1138335"/>
            <a:ext cx="9573208"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8576777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434A9C-5607-AA4F-6C33-73FF48C8098E}"/>
              </a:ext>
            </a:extLst>
          </p:cNvPr>
          <p:cNvSpPr>
            <a:spLocks noGrp="1"/>
          </p:cNvSpPr>
          <p:nvPr>
            <p:ph type="title"/>
          </p:nvPr>
        </p:nvSpPr>
        <p:spPr>
          <a:xfrm>
            <a:off x="460278" y="1017751"/>
            <a:ext cx="8596668" cy="1534677"/>
          </a:xfrm>
        </p:spPr>
        <p:txBody>
          <a:bodyPr>
            <a:noAutofit/>
          </a:bodyPr>
          <a:lstStyle/>
          <a:p>
            <a:pPr marL="0" indent="0"/>
            <a:r>
              <a:rPr lang="en-US" sz="1800" dirty="0">
                <a:solidFill>
                  <a:schemeClr val="tx1"/>
                </a:solidFill>
              </a:rPr>
              <a:t>-JDK 1.0 was released on January 23, 1996. </a:t>
            </a:r>
            <a:br>
              <a:rPr lang="en-US" sz="1800" dirty="0">
                <a:solidFill>
                  <a:schemeClr val="tx1"/>
                </a:solidFill>
              </a:rPr>
            </a:br>
            <a:r>
              <a:rPr lang="en-US" sz="1800" dirty="0">
                <a:solidFill>
                  <a:schemeClr val="tx1"/>
                </a:solidFill>
              </a:rPr>
              <a:t>-Each new version adds new features in Java. </a:t>
            </a:r>
            <a:br>
              <a:rPr lang="en-US" sz="1800" dirty="0">
                <a:solidFill>
                  <a:schemeClr val="tx1"/>
                </a:solidFill>
              </a:rPr>
            </a:br>
            <a:r>
              <a:rPr lang="en-US" sz="1800" dirty="0">
                <a:solidFill>
                  <a:schemeClr val="tx1"/>
                </a:solidFill>
              </a:rPr>
              <a:t>-Since Java SE 8 release, the Oracle corporation follows a pattern in which every even version is release in March month and an odd version released in September month.</a:t>
            </a:r>
            <a:br>
              <a:rPr lang="en-US" sz="1400" dirty="0">
                <a:solidFill>
                  <a:schemeClr val="tx1"/>
                </a:solidFill>
              </a:rPr>
            </a:br>
            <a:endParaRPr lang="en-IN" sz="1400" dirty="0">
              <a:solidFill>
                <a:schemeClr val="tx1"/>
              </a:solidFill>
              <a:latin typeface="Arial" panose="020B0604020202020204" pitchFamily="34" charset="0"/>
              <a:cs typeface="Arial" panose="020B0604020202020204" pitchFamily="34" charset="0"/>
            </a:endParaRPr>
          </a:p>
        </p:txBody>
      </p:sp>
      <p:sp>
        <p:nvSpPr>
          <p:cNvPr id="3" name="Content Placeholder 2">
            <a:extLst>
              <a:ext uri="{FF2B5EF4-FFF2-40B4-BE49-F238E27FC236}">
                <a16:creationId xmlns:a16="http://schemas.microsoft.com/office/drawing/2014/main" id="{09082E03-C11E-8E04-B93B-CB5B77064476}"/>
              </a:ext>
            </a:extLst>
          </p:cNvPr>
          <p:cNvSpPr>
            <a:spLocks noGrp="1"/>
          </p:cNvSpPr>
          <p:nvPr>
            <p:ph sz="half" idx="1"/>
          </p:nvPr>
        </p:nvSpPr>
        <p:spPr>
          <a:xfrm>
            <a:off x="549816" y="2661663"/>
            <a:ext cx="4184035" cy="3690047"/>
          </a:xfrm>
        </p:spPr>
        <p:txBody>
          <a:bodyPr>
            <a:normAutofit fontScale="92500" lnSpcReduction="20000"/>
          </a:bodyPr>
          <a:lstStyle/>
          <a:p>
            <a:pPr>
              <a:buClr>
                <a:schemeClr val="tx1"/>
              </a:buClr>
              <a:buFont typeface="Arial" panose="020B0604020202020204" pitchFamily="34" charset="0"/>
              <a:buChar char="•"/>
            </a:pPr>
            <a:r>
              <a:rPr lang="en-IN" dirty="0"/>
              <a:t>JDK Alpha and Beta 1995 </a:t>
            </a:r>
          </a:p>
          <a:p>
            <a:pPr>
              <a:buClr>
                <a:schemeClr val="tx1"/>
              </a:buClr>
              <a:buFont typeface="Arial" panose="020B0604020202020204" pitchFamily="34" charset="0"/>
              <a:buChar char="•"/>
            </a:pPr>
            <a:r>
              <a:rPr lang="en-IN" dirty="0"/>
              <a:t>JDK 1.0 23rd Jan 1996 </a:t>
            </a:r>
          </a:p>
          <a:p>
            <a:pPr>
              <a:buClr>
                <a:schemeClr val="tx1"/>
              </a:buClr>
              <a:buFont typeface="Arial" panose="020B0604020202020204" pitchFamily="34" charset="0"/>
              <a:buChar char="•"/>
            </a:pPr>
            <a:r>
              <a:rPr lang="en-IN" dirty="0"/>
              <a:t>JDK 1.1 19th Feb 1997 </a:t>
            </a:r>
          </a:p>
          <a:p>
            <a:pPr>
              <a:buClr>
                <a:schemeClr val="tx1"/>
              </a:buClr>
              <a:buFont typeface="Arial" panose="020B0604020202020204" pitchFamily="34" charset="0"/>
              <a:buChar char="•"/>
            </a:pPr>
            <a:r>
              <a:rPr lang="en-IN" dirty="0"/>
              <a:t>J2SE 1.2 8th Dec 1998 </a:t>
            </a:r>
          </a:p>
          <a:p>
            <a:pPr>
              <a:buClr>
                <a:schemeClr val="tx1"/>
              </a:buClr>
              <a:buFont typeface="Arial" panose="020B0604020202020204" pitchFamily="34" charset="0"/>
              <a:buChar char="•"/>
            </a:pPr>
            <a:r>
              <a:rPr lang="en-IN" dirty="0"/>
              <a:t>J2SE 1.3 8th May 2000 </a:t>
            </a:r>
          </a:p>
          <a:p>
            <a:pPr>
              <a:buClr>
                <a:schemeClr val="tx1"/>
              </a:buClr>
              <a:buFont typeface="Arial" panose="020B0604020202020204" pitchFamily="34" charset="0"/>
              <a:buChar char="•"/>
            </a:pPr>
            <a:r>
              <a:rPr lang="en-IN" dirty="0"/>
              <a:t>J2SE 1.4 6th Feb 2002 </a:t>
            </a:r>
          </a:p>
          <a:p>
            <a:pPr>
              <a:buClr>
                <a:schemeClr val="tx1"/>
              </a:buClr>
              <a:buFont typeface="Arial" panose="020B0604020202020204" pitchFamily="34" charset="0"/>
              <a:buChar char="•"/>
            </a:pPr>
            <a:r>
              <a:rPr lang="en-IN" dirty="0"/>
              <a:t>J2SE 5.0 30th Sep 2004 </a:t>
            </a:r>
          </a:p>
          <a:p>
            <a:pPr>
              <a:buClr>
                <a:schemeClr val="tx1"/>
              </a:buClr>
              <a:buFont typeface="Arial" panose="020B0604020202020204" pitchFamily="34" charset="0"/>
              <a:buChar char="•"/>
            </a:pPr>
            <a:r>
              <a:rPr lang="en-IN" dirty="0"/>
              <a:t>Java SE 6 11th Dec 2006 </a:t>
            </a:r>
          </a:p>
          <a:p>
            <a:pPr>
              <a:buClr>
                <a:schemeClr val="tx1"/>
              </a:buClr>
              <a:buFont typeface="Arial" panose="020B0604020202020204" pitchFamily="34" charset="0"/>
              <a:buChar char="•"/>
            </a:pPr>
            <a:r>
              <a:rPr lang="en-IN" dirty="0"/>
              <a:t>Java SE 7 28th July 2011 </a:t>
            </a:r>
          </a:p>
          <a:p>
            <a:pPr>
              <a:buClr>
                <a:schemeClr val="tx1"/>
              </a:buClr>
              <a:buFont typeface="Arial" panose="020B0604020202020204" pitchFamily="34" charset="0"/>
              <a:buChar char="•"/>
            </a:pPr>
            <a:r>
              <a:rPr lang="en-IN" dirty="0"/>
              <a:t>Java SE 8 18th Mar 2014 </a:t>
            </a:r>
          </a:p>
          <a:p>
            <a:pPr>
              <a:buAutoNum type="arabicPeriod"/>
            </a:pPr>
            <a:endParaRPr lang="en-US" dirty="0"/>
          </a:p>
          <a:p>
            <a:pPr>
              <a:buAutoNum type="arabicPeriod"/>
            </a:pPr>
            <a:endParaRPr lang="en-IN" dirty="0"/>
          </a:p>
        </p:txBody>
      </p:sp>
      <p:sp>
        <p:nvSpPr>
          <p:cNvPr id="4" name="Content Placeholder 3">
            <a:extLst>
              <a:ext uri="{FF2B5EF4-FFF2-40B4-BE49-F238E27FC236}">
                <a16:creationId xmlns:a16="http://schemas.microsoft.com/office/drawing/2014/main" id="{DC3F1C18-2B1C-8BAA-6555-0D531EA76948}"/>
              </a:ext>
            </a:extLst>
          </p:cNvPr>
          <p:cNvSpPr>
            <a:spLocks noGrp="1"/>
          </p:cNvSpPr>
          <p:nvPr>
            <p:ph sz="half" idx="2"/>
          </p:nvPr>
        </p:nvSpPr>
        <p:spPr>
          <a:xfrm>
            <a:off x="5002883" y="2550577"/>
            <a:ext cx="4184034" cy="3690048"/>
          </a:xfrm>
        </p:spPr>
        <p:txBody>
          <a:bodyPr>
            <a:normAutofit fontScale="92500" lnSpcReduction="20000"/>
          </a:bodyPr>
          <a:lstStyle/>
          <a:p>
            <a:pPr>
              <a:buClr>
                <a:schemeClr val="tx1"/>
              </a:buClr>
              <a:buFont typeface="Arial" panose="020B0604020202020204" pitchFamily="34" charset="0"/>
              <a:buChar char="•"/>
            </a:pPr>
            <a:r>
              <a:rPr lang="en-IN" dirty="0"/>
              <a:t>Java SE 9 21st Sep 2017 </a:t>
            </a:r>
          </a:p>
          <a:p>
            <a:pPr>
              <a:buClr>
                <a:schemeClr val="tx1"/>
              </a:buClr>
              <a:buFont typeface="Arial" panose="020B0604020202020204" pitchFamily="34" charset="0"/>
              <a:buChar char="•"/>
            </a:pPr>
            <a:r>
              <a:rPr lang="en-IN" dirty="0"/>
              <a:t>Java SE 10 20th Mar 2018 </a:t>
            </a:r>
          </a:p>
          <a:p>
            <a:pPr>
              <a:buClr>
                <a:schemeClr val="tx1"/>
              </a:buClr>
              <a:buFont typeface="Arial" panose="020B0604020202020204" pitchFamily="34" charset="0"/>
              <a:buChar char="•"/>
            </a:pPr>
            <a:r>
              <a:rPr lang="en-IN" dirty="0"/>
              <a:t>Java SE 11 September 2018 </a:t>
            </a:r>
          </a:p>
          <a:p>
            <a:pPr>
              <a:buClr>
                <a:schemeClr val="tx1"/>
              </a:buClr>
              <a:buFont typeface="Arial" panose="020B0604020202020204" pitchFamily="34" charset="0"/>
              <a:buChar char="•"/>
            </a:pPr>
            <a:r>
              <a:rPr lang="en-IN" dirty="0"/>
              <a:t>Java SE 12 March 2019 </a:t>
            </a:r>
          </a:p>
          <a:p>
            <a:pPr>
              <a:buClr>
                <a:schemeClr val="tx1"/>
              </a:buClr>
              <a:buFont typeface="Arial" panose="020B0604020202020204" pitchFamily="34" charset="0"/>
              <a:buChar char="•"/>
            </a:pPr>
            <a:r>
              <a:rPr lang="en-IN" dirty="0"/>
              <a:t>Java SE 13 September 2019 </a:t>
            </a:r>
          </a:p>
          <a:p>
            <a:pPr>
              <a:buClr>
                <a:schemeClr val="tx1"/>
              </a:buClr>
              <a:buFont typeface="Arial" panose="020B0604020202020204" pitchFamily="34" charset="0"/>
              <a:buChar char="•"/>
            </a:pPr>
            <a:r>
              <a:rPr lang="en-IN" dirty="0"/>
              <a:t>Java SE 14 Mar 2020</a:t>
            </a:r>
          </a:p>
          <a:p>
            <a:pPr>
              <a:buClr>
                <a:schemeClr val="tx1"/>
              </a:buClr>
              <a:buFont typeface="Arial" panose="020B0604020202020204" pitchFamily="34" charset="0"/>
              <a:buChar char="•"/>
            </a:pPr>
            <a:r>
              <a:rPr lang="en-IN" dirty="0"/>
              <a:t>Java SE 15 September 2020</a:t>
            </a:r>
          </a:p>
          <a:p>
            <a:pPr>
              <a:buClr>
                <a:schemeClr val="tx1"/>
              </a:buClr>
              <a:buFont typeface="Arial" panose="020B0604020202020204" pitchFamily="34" charset="0"/>
              <a:buChar char="•"/>
            </a:pPr>
            <a:r>
              <a:rPr lang="en-IN" dirty="0"/>
              <a:t>Java SE 16 Mar 2021 </a:t>
            </a:r>
          </a:p>
          <a:p>
            <a:pPr>
              <a:buClr>
                <a:schemeClr val="tx1"/>
              </a:buClr>
              <a:buFont typeface="Arial" panose="020B0604020202020204" pitchFamily="34" charset="0"/>
              <a:buChar char="•"/>
            </a:pPr>
            <a:r>
              <a:rPr lang="en-IN" dirty="0"/>
              <a:t>Java SE 17 September 2021 </a:t>
            </a:r>
          </a:p>
          <a:p>
            <a:pPr>
              <a:buClr>
                <a:schemeClr val="tx1"/>
              </a:buClr>
              <a:buFont typeface="Arial" panose="020B0604020202020204" pitchFamily="34" charset="0"/>
              <a:buChar char="•"/>
            </a:pPr>
            <a:r>
              <a:rPr lang="en-IN" dirty="0"/>
              <a:t>Java SE 18 to be released by March 2022</a:t>
            </a:r>
            <a:endParaRPr lang="en-US" dirty="0"/>
          </a:p>
          <a:p>
            <a:endParaRPr lang="en-IN" dirty="0"/>
          </a:p>
        </p:txBody>
      </p:sp>
      <p:sp>
        <p:nvSpPr>
          <p:cNvPr id="5" name="Title 1">
            <a:extLst>
              <a:ext uri="{FF2B5EF4-FFF2-40B4-BE49-F238E27FC236}">
                <a16:creationId xmlns:a16="http://schemas.microsoft.com/office/drawing/2014/main" id="{EC1F2932-C4C3-A89C-0283-0C5755413D5F}"/>
              </a:ext>
            </a:extLst>
          </p:cNvPr>
          <p:cNvSpPr txBox="1">
            <a:spLocks/>
          </p:cNvSpPr>
          <p:nvPr/>
        </p:nvSpPr>
        <p:spPr>
          <a:xfrm>
            <a:off x="549816" y="216369"/>
            <a:ext cx="8596668" cy="663819"/>
          </a:xfrm>
          <a:prstGeom prst="rect">
            <a:avLst/>
          </a:prstGeom>
        </p:spPr>
        <p:txBody>
          <a:bodyPr vert="horz" lIns="91440" tIns="45720" rIns="91440" bIns="45720" rtlCol="0" anchor="t">
            <a:normAutofit/>
          </a:bodyPr>
          <a:lst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a:solidFill>
                  <a:schemeClr val="tx1"/>
                </a:solidFill>
                <a:latin typeface="Arial" panose="020B0604020202020204" pitchFamily="34" charset="0"/>
                <a:cs typeface="Arial" panose="020B0604020202020204" pitchFamily="34" charset="0"/>
              </a:rPr>
              <a:t>Java Version History</a:t>
            </a:r>
            <a:endParaRPr lang="en-IN" dirty="0">
              <a:solidFill>
                <a:schemeClr val="tx1"/>
              </a:solidFill>
              <a:latin typeface="Arial" panose="020B0604020202020204" pitchFamily="34" charset="0"/>
              <a:cs typeface="Arial" panose="020B0604020202020204" pitchFamily="34" charset="0"/>
            </a:endParaRPr>
          </a:p>
        </p:txBody>
      </p:sp>
      <p:cxnSp>
        <p:nvCxnSpPr>
          <p:cNvPr id="7" name="Straight Connector 6">
            <a:extLst>
              <a:ext uri="{FF2B5EF4-FFF2-40B4-BE49-F238E27FC236}">
                <a16:creationId xmlns:a16="http://schemas.microsoft.com/office/drawing/2014/main" id="{F9D9DA41-7004-DE49-FE6B-48BA203FC81C}"/>
              </a:ext>
            </a:extLst>
          </p:cNvPr>
          <p:cNvCxnSpPr/>
          <p:nvPr/>
        </p:nvCxnSpPr>
        <p:spPr>
          <a:xfrm>
            <a:off x="0" y="851859"/>
            <a:ext cx="9517224"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1912873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19088A-0040-CEF8-851D-CE086002D574}"/>
              </a:ext>
            </a:extLst>
          </p:cNvPr>
          <p:cNvSpPr>
            <a:spLocks noGrp="1"/>
          </p:cNvSpPr>
          <p:nvPr>
            <p:ph type="title"/>
          </p:nvPr>
        </p:nvSpPr>
        <p:spPr>
          <a:xfrm>
            <a:off x="673533" y="208383"/>
            <a:ext cx="8596668" cy="920620"/>
          </a:xfrm>
        </p:spPr>
        <p:txBody>
          <a:bodyPr/>
          <a:lstStyle/>
          <a:p>
            <a:r>
              <a:rPr lang="en-US" dirty="0">
                <a:solidFill>
                  <a:schemeClr val="tx1"/>
                </a:solidFill>
                <a:latin typeface="Arial" panose="020B0604020202020204" pitchFamily="34" charset="0"/>
                <a:cs typeface="Arial" panose="020B0604020202020204" pitchFamily="34" charset="0"/>
              </a:rPr>
              <a:t>Different Types of Java Platforms</a:t>
            </a:r>
            <a:endParaRPr lang="en-IN" dirty="0">
              <a:solidFill>
                <a:schemeClr val="tx1"/>
              </a:solidFill>
              <a:latin typeface="Arial" panose="020B0604020202020204" pitchFamily="34" charset="0"/>
              <a:cs typeface="Arial" panose="020B0604020202020204" pitchFamily="34" charset="0"/>
            </a:endParaRPr>
          </a:p>
        </p:txBody>
      </p:sp>
      <p:sp>
        <p:nvSpPr>
          <p:cNvPr id="3" name="Content Placeholder 2">
            <a:extLst>
              <a:ext uri="{FF2B5EF4-FFF2-40B4-BE49-F238E27FC236}">
                <a16:creationId xmlns:a16="http://schemas.microsoft.com/office/drawing/2014/main" id="{1E2418D9-14EC-0E8B-7624-0B551234A7D2}"/>
              </a:ext>
            </a:extLst>
          </p:cNvPr>
          <p:cNvSpPr>
            <a:spLocks noGrp="1"/>
          </p:cNvSpPr>
          <p:nvPr>
            <p:ph sz="half" idx="1"/>
          </p:nvPr>
        </p:nvSpPr>
        <p:spPr>
          <a:xfrm>
            <a:off x="677334" y="1231640"/>
            <a:ext cx="8858552" cy="5047861"/>
          </a:xfrm>
        </p:spPr>
        <p:txBody>
          <a:bodyPr>
            <a:normAutofit/>
          </a:bodyPr>
          <a:lstStyle/>
          <a:p>
            <a:pPr marL="0" indent="0">
              <a:buNone/>
            </a:pPr>
            <a:r>
              <a:rPr lang="en-IN" b="1" dirty="0"/>
              <a:t>1.Java SE (Java Standard Edition) :</a:t>
            </a:r>
          </a:p>
          <a:p>
            <a:pPr marL="0" indent="0">
              <a:buNone/>
            </a:pPr>
            <a:r>
              <a:rPr lang="en-IN" dirty="0"/>
              <a:t> -It is a Java programming platform. It includes Java programming APIs such as </a:t>
            </a:r>
            <a:r>
              <a:rPr lang="en-IN" dirty="0" err="1"/>
              <a:t>java.lang</a:t>
            </a:r>
            <a:r>
              <a:rPr lang="en-IN" dirty="0"/>
              <a:t>, java.io, java.net, </a:t>
            </a:r>
            <a:r>
              <a:rPr lang="en-IN" dirty="0" err="1"/>
              <a:t>java.util</a:t>
            </a:r>
            <a:r>
              <a:rPr lang="en-IN" dirty="0"/>
              <a:t>, </a:t>
            </a:r>
            <a:r>
              <a:rPr lang="en-IN" dirty="0" err="1"/>
              <a:t>java.sql</a:t>
            </a:r>
            <a:r>
              <a:rPr lang="en-IN" dirty="0"/>
              <a:t>, </a:t>
            </a:r>
            <a:r>
              <a:rPr lang="en-IN" dirty="0" err="1"/>
              <a:t>java.math</a:t>
            </a:r>
            <a:r>
              <a:rPr lang="en-IN" dirty="0"/>
              <a:t> etc. b. It includes core topics like OOPs, String, Regex, Exception, Inner classes, Multithreading, I/O Stream, Networking, AWT, Swing, Reflection, Collection, etc. </a:t>
            </a:r>
          </a:p>
          <a:p>
            <a:pPr marL="0" indent="0">
              <a:buNone/>
            </a:pPr>
            <a:r>
              <a:rPr lang="en-IN" b="1" dirty="0"/>
              <a:t>2. Java EE (Java Enterprise Edition): </a:t>
            </a:r>
          </a:p>
          <a:p>
            <a:pPr marL="0" indent="0">
              <a:buNone/>
            </a:pPr>
            <a:r>
              <a:rPr lang="en-IN" dirty="0"/>
              <a:t> - It is an enterprise platform that is mainly used to develop web and enterprise applications. d. It is built on top of the Java SE platform. It includes topics like Servlet, JSP, Web Services, EJB, JPA, etc. </a:t>
            </a:r>
          </a:p>
          <a:p>
            <a:pPr marL="0" indent="0">
              <a:buNone/>
            </a:pPr>
            <a:r>
              <a:rPr lang="en-IN" b="1" dirty="0"/>
              <a:t>3. Java ME (Java Micro Edition) :</a:t>
            </a:r>
          </a:p>
          <a:p>
            <a:pPr marL="0" indent="0">
              <a:buNone/>
            </a:pPr>
            <a:r>
              <a:rPr lang="en-IN" dirty="0"/>
              <a:t> -It is a micro platform that is dedicated to mobile applications.</a:t>
            </a:r>
          </a:p>
          <a:p>
            <a:pPr marL="0" indent="0">
              <a:buNone/>
            </a:pPr>
            <a:r>
              <a:rPr lang="en-IN" b="1" dirty="0"/>
              <a:t>4. Java </a:t>
            </a:r>
            <a:r>
              <a:rPr lang="en-IN" b="1" dirty="0" err="1"/>
              <a:t>Fx</a:t>
            </a:r>
            <a:r>
              <a:rPr lang="en-IN" b="1" dirty="0"/>
              <a:t> :</a:t>
            </a:r>
          </a:p>
          <a:p>
            <a:pPr marL="0" indent="0">
              <a:buNone/>
            </a:pPr>
            <a:r>
              <a:rPr lang="en-IN" dirty="0"/>
              <a:t>-</a:t>
            </a:r>
            <a:r>
              <a:rPr lang="en-IN" dirty="0" err="1"/>
              <a:t>JavaFx</a:t>
            </a:r>
            <a:r>
              <a:rPr lang="en-IN" dirty="0"/>
              <a:t> is a platform for developing rich internet applications using a lightweight  user-interface API.</a:t>
            </a:r>
            <a:endParaRPr lang="en-IN" b="1" dirty="0"/>
          </a:p>
          <a:p>
            <a:pPr marL="0" indent="0">
              <a:buNone/>
            </a:pPr>
            <a:endParaRPr lang="en-IN" b="1" dirty="0"/>
          </a:p>
          <a:p>
            <a:pPr marL="0" indent="0">
              <a:buNone/>
            </a:pPr>
            <a:endParaRPr lang="en-IN" dirty="0"/>
          </a:p>
        </p:txBody>
      </p:sp>
      <p:cxnSp>
        <p:nvCxnSpPr>
          <p:cNvPr id="8" name="Straight Connector 7">
            <a:extLst>
              <a:ext uri="{FF2B5EF4-FFF2-40B4-BE49-F238E27FC236}">
                <a16:creationId xmlns:a16="http://schemas.microsoft.com/office/drawing/2014/main" id="{E91D85A6-14B4-B568-E389-11BE3B8A933B}"/>
              </a:ext>
            </a:extLst>
          </p:cNvPr>
          <p:cNvCxnSpPr/>
          <p:nvPr/>
        </p:nvCxnSpPr>
        <p:spPr>
          <a:xfrm>
            <a:off x="0" y="942392"/>
            <a:ext cx="9535886"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6488137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B934A2-995C-0C47-5BBC-EACE2510AE86}"/>
              </a:ext>
            </a:extLst>
          </p:cNvPr>
          <p:cNvSpPr>
            <a:spLocks noGrp="1"/>
          </p:cNvSpPr>
          <p:nvPr>
            <p:ph type="title"/>
          </p:nvPr>
        </p:nvSpPr>
        <p:spPr>
          <a:xfrm>
            <a:off x="677334" y="609600"/>
            <a:ext cx="8596668" cy="817984"/>
          </a:xfrm>
        </p:spPr>
        <p:txBody>
          <a:bodyPr/>
          <a:lstStyle/>
          <a:p>
            <a:r>
              <a:rPr lang="en-US" dirty="0">
                <a:solidFill>
                  <a:schemeClr val="tx1"/>
                </a:solidFill>
                <a:latin typeface="Arial" panose="020B0604020202020204" pitchFamily="34" charset="0"/>
                <a:cs typeface="Arial" panose="020B0604020202020204" pitchFamily="34" charset="0"/>
              </a:rPr>
              <a:t>Java Keywords</a:t>
            </a:r>
            <a:endParaRPr lang="en-IN" dirty="0">
              <a:solidFill>
                <a:schemeClr val="tx1"/>
              </a:solidFill>
              <a:latin typeface="Arial" panose="020B0604020202020204" pitchFamily="34" charset="0"/>
              <a:cs typeface="Arial" panose="020B0604020202020204" pitchFamily="34" charset="0"/>
            </a:endParaRPr>
          </a:p>
        </p:txBody>
      </p:sp>
      <p:pic>
        <p:nvPicPr>
          <p:cNvPr id="6" name="Content Placeholder 5">
            <a:extLst>
              <a:ext uri="{FF2B5EF4-FFF2-40B4-BE49-F238E27FC236}">
                <a16:creationId xmlns:a16="http://schemas.microsoft.com/office/drawing/2014/main" id="{C6FE6E75-1FB3-051D-00C4-4358C94FF306}"/>
              </a:ext>
            </a:extLst>
          </p:cNvPr>
          <p:cNvPicPr>
            <a:picLocks noGrp="1" noChangeAspect="1"/>
          </p:cNvPicPr>
          <p:nvPr>
            <p:ph sz="half" idx="1"/>
          </p:nvPr>
        </p:nvPicPr>
        <p:blipFill>
          <a:blip r:embed="rId2"/>
          <a:stretch>
            <a:fillRect/>
          </a:stretch>
        </p:blipFill>
        <p:spPr>
          <a:xfrm>
            <a:off x="1158052" y="1516224"/>
            <a:ext cx="8252109" cy="4404049"/>
          </a:xfrm>
        </p:spPr>
      </p:pic>
      <p:cxnSp>
        <p:nvCxnSpPr>
          <p:cNvPr id="8" name="Straight Connector 7">
            <a:extLst>
              <a:ext uri="{FF2B5EF4-FFF2-40B4-BE49-F238E27FC236}">
                <a16:creationId xmlns:a16="http://schemas.microsoft.com/office/drawing/2014/main" id="{CAA46D11-2DE9-5D8C-4964-69AA2E05B3A7}"/>
              </a:ext>
            </a:extLst>
          </p:cNvPr>
          <p:cNvCxnSpPr/>
          <p:nvPr/>
        </p:nvCxnSpPr>
        <p:spPr>
          <a:xfrm>
            <a:off x="0" y="1278294"/>
            <a:ext cx="9619861"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5361211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7F3894-58A2-B0D2-9CE7-B17CA764F436}"/>
              </a:ext>
            </a:extLst>
          </p:cNvPr>
          <p:cNvSpPr>
            <a:spLocks noGrp="1"/>
          </p:cNvSpPr>
          <p:nvPr>
            <p:ph type="title"/>
          </p:nvPr>
        </p:nvSpPr>
        <p:spPr>
          <a:xfrm>
            <a:off x="528044" y="351663"/>
            <a:ext cx="8596668" cy="929951"/>
          </a:xfrm>
        </p:spPr>
        <p:txBody>
          <a:bodyPr/>
          <a:lstStyle/>
          <a:p>
            <a:r>
              <a:rPr lang="en-US" dirty="0">
                <a:solidFill>
                  <a:schemeClr val="tx1"/>
                </a:solidFill>
                <a:latin typeface="Arial" panose="020B0604020202020204" pitchFamily="34" charset="0"/>
                <a:cs typeface="Arial" panose="020B0604020202020204" pitchFamily="34" charset="0"/>
              </a:rPr>
              <a:t>JVM, JRE, JDK ??</a:t>
            </a:r>
            <a:endParaRPr lang="en-IN" dirty="0">
              <a:solidFill>
                <a:schemeClr val="tx1"/>
              </a:solidFill>
              <a:latin typeface="Arial" panose="020B0604020202020204" pitchFamily="34" charset="0"/>
              <a:cs typeface="Arial" panose="020B0604020202020204" pitchFamily="34" charset="0"/>
            </a:endParaRPr>
          </a:p>
        </p:txBody>
      </p:sp>
      <p:pic>
        <p:nvPicPr>
          <p:cNvPr id="14" name="Content Placeholder 13">
            <a:extLst>
              <a:ext uri="{FF2B5EF4-FFF2-40B4-BE49-F238E27FC236}">
                <a16:creationId xmlns:a16="http://schemas.microsoft.com/office/drawing/2014/main" id="{EB8BC681-134E-8608-C070-8EF18E18311C}"/>
              </a:ext>
            </a:extLst>
          </p:cNvPr>
          <p:cNvPicPr>
            <a:picLocks noGrp="1" noChangeAspect="1"/>
          </p:cNvPicPr>
          <p:nvPr>
            <p:ph sz="half" idx="1"/>
          </p:nvPr>
        </p:nvPicPr>
        <p:blipFill>
          <a:blip r:embed="rId2"/>
          <a:stretch>
            <a:fillRect/>
          </a:stretch>
        </p:blipFill>
        <p:spPr>
          <a:xfrm>
            <a:off x="742648" y="1352939"/>
            <a:ext cx="7756525" cy="3900196"/>
          </a:xfrm>
        </p:spPr>
      </p:pic>
      <p:cxnSp>
        <p:nvCxnSpPr>
          <p:cNvPr id="6" name="Straight Connector 5">
            <a:extLst>
              <a:ext uri="{FF2B5EF4-FFF2-40B4-BE49-F238E27FC236}">
                <a16:creationId xmlns:a16="http://schemas.microsoft.com/office/drawing/2014/main" id="{3D9665DA-4F71-6028-2DA8-57243E724254}"/>
              </a:ext>
            </a:extLst>
          </p:cNvPr>
          <p:cNvCxnSpPr/>
          <p:nvPr/>
        </p:nvCxnSpPr>
        <p:spPr>
          <a:xfrm>
            <a:off x="2369976" y="746449"/>
            <a:ext cx="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5C6E8E10-1488-2093-4315-9C71D651C78D}"/>
              </a:ext>
            </a:extLst>
          </p:cNvPr>
          <p:cNvCxnSpPr/>
          <p:nvPr/>
        </p:nvCxnSpPr>
        <p:spPr>
          <a:xfrm flipH="1">
            <a:off x="-37322" y="1352939"/>
            <a:ext cx="37322"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F2F1794C-FF5A-3574-E00B-827792B458FE}"/>
              </a:ext>
            </a:extLst>
          </p:cNvPr>
          <p:cNvCxnSpPr/>
          <p:nvPr/>
        </p:nvCxnSpPr>
        <p:spPr>
          <a:xfrm>
            <a:off x="0" y="1175657"/>
            <a:ext cx="18661"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E2D95E00-3C0D-CCF4-89F9-535BD1AEE0B3}"/>
              </a:ext>
            </a:extLst>
          </p:cNvPr>
          <p:cNvCxnSpPr/>
          <p:nvPr/>
        </p:nvCxnSpPr>
        <p:spPr>
          <a:xfrm>
            <a:off x="0" y="1156996"/>
            <a:ext cx="9591869"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51408322"/>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docProps/app.xml><?xml version="1.0" encoding="utf-8"?>
<Properties xmlns="http://schemas.openxmlformats.org/officeDocument/2006/extended-properties" xmlns:vt="http://schemas.openxmlformats.org/officeDocument/2006/docPropsVTypes">
  <Template>Facet</Template>
  <TotalTime>163</TotalTime>
  <Words>664</Words>
  <Application>Microsoft Office PowerPoint</Application>
  <PresentationFormat>Widescreen</PresentationFormat>
  <Paragraphs>105</Paragraphs>
  <Slides>7</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7</vt:i4>
      </vt:variant>
    </vt:vector>
  </HeadingPairs>
  <TitlesOfParts>
    <vt:vector size="11" baseType="lpstr">
      <vt:lpstr>Arial</vt:lpstr>
      <vt:lpstr>Trebuchet MS</vt:lpstr>
      <vt:lpstr>Wingdings 3</vt:lpstr>
      <vt:lpstr>Facet</vt:lpstr>
      <vt:lpstr>COURSE CONTENT</vt:lpstr>
      <vt:lpstr>Where is Java Used?</vt:lpstr>
      <vt:lpstr>Features of Java</vt:lpstr>
      <vt:lpstr>-JDK 1.0 was released on January 23, 1996.  -Each new version adds new features in Java.  -Since Java SE 8 release, the Oracle corporation follows a pattern in which every even version is release in March month and an odd version released in September month. </vt:lpstr>
      <vt:lpstr>Different Types of Java Platforms</vt:lpstr>
      <vt:lpstr>Java Keywords</vt:lpstr>
      <vt:lpstr>JVM, JRE, JDK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COURSE CONTENT</dc:title>
  <dc:creator>Dell</dc:creator>
  <cp:lastModifiedBy>Dell</cp:lastModifiedBy>
  <cp:revision>29</cp:revision>
  <dcterms:created xsi:type="dcterms:W3CDTF">2022-10-10T08:12:42Z</dcterms:created>
  <dcterms:modified xsi:type="dcterms:W3CDTF">2024-05-20T14:51:15Z</dcterms:modified>
</cp:coreProperties>
</file>